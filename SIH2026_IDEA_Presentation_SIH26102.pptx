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4477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6" name="Picture 5" descr="sih_bulb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304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Problem Statement ID –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SIH26102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Problem Statement Title-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Autonomous Public Fund Anomaly Detection &amp; Temporal Forensics System for MPLADS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Theme-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Smart Governance &amp; Public Financial Surveillance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PS Category- Software/Hardware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Software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Team ID-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[Team ID]</a:t>
            </a:r>
          </a:p>
          <a:p>
            <a:pPr>
              <a:spcBef>
                <a:spcPts val="1600"/>
              </a:spcBef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Team Name (Registered on portal)</a:t>
            </a:r>
            <a:r>
              <a:rPr b="0" sz="1600">
                <a:solidFill>
                  <a:srgbClr val="1E293B"/>
                </a:solidFill>
                <a:latin typeface="Times New Roman"/>
              </a:rPr>
              <a:t>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IDEA TITLE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u="sng">
                <a:solidFill>
                  <a:srgbClr val="1E5A99"/>
                </a:solidFill>
                <a:latin typeface="Times New Roman"/>
              </a:defRPr>
            </a:pPr>
            <a:r>
              <a:t>❖Proposed Solution (Describe your Idea/Solution/Prototype)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477"/>
                </a:solidFill>
                <a:latin typeface="Times New Roman"/>
              </a:defRPr>
            </a:pPr>
            <a:r>
              <a:t>• Detailed explanation of the proposed solution: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Dual-Layer Hybrid Intelligence: Integrates a 3-model unsupervised ML ensemble (Isolation Forest 45%, Profile-Deduplicated LOF 35%, PCA 20%) with 5 codified CAG statutory rules.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Real-Time Pre-Sanction Surveillance: Screens 100% of public works transactions before funds leave the treasury, replacing delayed 2-year sample autopsies.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Full Pan-India Scope: Ingests 105,000 authentic civil works across all 33 States &amp; UTs (2019-2024), monitoring ₹6,260 Cr in scheme expenditure.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477"/>
                </a:solidFill>
                <a:latin typeface="Times New Roman"/>
              </a:defRPr>
            </a:pPr>
            <a:r>
              <a:t>• How it addresses the problem: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Solves Post-Facto Audit Blindspot: Traditional CAG audits inspect &lt;8% of works 12–24 months late; our system audits 100% in milliseconds (&lt;15ms).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Eliminates GFR 149 Evasion: Flags procurement contract-splitting artificially priced just below ₹5L and ₹10L e-tender thresholds.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Stops Ghost Village Re-Billing: Geospatial NLP cross-references identical works repeated in the same village/block to prevent double-invoicing.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488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477"/>
                </a:solidFill>
                <a:latin typeface="Times New Roman"/>
              </a:defRPr>
            </a:pPr>
            <a:r>
              <a:t>• Innovation and uniqueness of the solution: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🚨 The 'March Rush' Radar: First-ever longitudinal forensic engine detecting fiscal year-end fund dumping in March (3,111 works flagged).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⏳ Chronic Dormancy Engine: Pinpointed ₹287 Cr in 5,960 works stalled &gt;3 years from 2019–2021 for fund clawback.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  - 🇮🇳 Bilingual Usability: Converts math scores into plain English + सरल हिंदी directives with printable official CAG dossiers.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Technologies to be used (programming languages, frameworks, hardware)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  - AI / ML Decision Engine: Scikit-learn (Isolation Forest, Profile-Deduplicated LOF, PCA SVD), Joblib, NumPy, Pandas</a:t>
            </a:r>
            <a:br/>
            <a:r>
              <a:t>  - Backend &amp; APIs: FastAPI (Asynchronous Python 3.12), SQLAlchemy ORM, Pydantic V2 schemas, Uvicorn</a:t>
            </a:r>
            <a:br/>
            <a:r>
              <a:t>  - Database &amp; Ingestion: PostgreSQL 16 (105k works, 557 seats), MoSPI e-SAKSHI live CDC scraper (REST API)</a:t>
            </a:r>
            <a:br/>
            <a:r>
              <a:t>  - Frontend &amp; GIS: React 18, Vite, Leaflet Geospatial GIS, Recharts Data Visualizer, Responsive CSS (100% Offline 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Methodology and process for implementation (Flow Charts / Architecture Workflow)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2057400" cy="274320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0F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337560"/>
            <a:ext cx="19110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62AC"/>
                </a:solidFill>
              </a:defRPr>
            </a:pPr>
            <a:r>
              <a:t>1. Data Ingestion &amp; Cleansing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MoSPI e-SAKSHI Portal API</a:t>
            </a:r>
            <a:br/>
            <a:r>
              <a:t>• 105,000 Real Works</a:t>
            </a:r>
            <a:br/>
            <a:r>
              <a:t>• Deduplication &amp; NLP</a:t>
            </a:r>
            <a:br/>
            <a:r>
              <a:t>• Completeness Scoring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24328" y="4434840"/>
            <a:ext cx="146304" cy="228600"/>
          </a:xfrm>
          <a:prstGeom prst="rightArrow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3246120"/>
            <a:ext cx="2057400" cy="274320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0F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3337560"/>
            <a:ext cx="19110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62AC"/>
                </a:solidFill>
              </a:defRPr>
            </a:pPr>
            <a:r>
              <a:t>2. Feature Engineering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Constituency Median Ratio</a:t>
            </a:r>
            <a:br/>
            <a:r>
              <a:t>• GFR 149 Proximity Flag</a:t>
            </a:r>
            <a:br/>
            <a:r>
              <a:t>• Village Cluster Matching</a:t>
            </a:r>
            <a:br/>
            <a:r>
              <a:t>• Days Since Recommendation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4608" y="4434840"/>
            <a:ext cx="146304" cy="228600"/>
          </a:xfrm>
          <a:prstGeom prst="rightArrow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3246120"/>
            <a:ext cx="2057400" cy="274320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0F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3337560"/>
            <a:ext cx="19110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62AC"/>
                </a:solidFill>
              </a:defRPr>
            </a:pPr>
            <a:r>
              <a:t>3. Dual-Layer Hybrid Engine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Isolation Forest (45%)</a:t>
            </a:r>
            <a:br/>
            <a:r>
              <a:t>• Deduplicated LOF (35%)</a:t>
            </a:r>
            <a:br/>
            <a:r>
              <a:t>• PCA Reconstruction (20%)</a:t>
            </a:r>
            <a:br/>
            <a:r>
              <a:t>• 5 Codified CAG Rules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04888" y="4434840"/>
            <a:ext cx="146304" cy="228600"/>
          </a:xfrm>
          <a:prstGeom prst="rightArrow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80" y="3246120"/>
            <a:ext cx="2057400" cy="274320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0F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3337560"/>
            <a:ext cx="19110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62AC"/>
                </a:solidFill>
              </a:defRPr>
            </a:pPr>
            <a:r>
              <a:t>4. Temporal Forensics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'March Rush' Radar</a:t>
            </a:r>
            <a:br/>
            <a:r>
              <a:t>• Chronic Dormancy (&gt;3 Yrs)</a:t>
            </a:r>
            <a:br/>
            <a:r>
              <a:t>• Pre-Poll Election Surges</a:t>
            </a:r>
            <a:br/>
            <a:r>
              <a:t>• Longitudinal Normalization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45168" y="4434840"/>
            <a:ext cx="146304" cy="228600"/>
          </a:xfrm>
          <a:prstGeom prst="rightArrow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3246120"/>
            <a:ext cx="2057400" cy="274320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0F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3337560"/>
            <a:ext cx="19110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62AC"/>
                </a:solidFill>
              </a:defRPr>
            </a:pPr>
            <a:r>
              <a:t>5. Bilingual Actionable Output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Easy English + सरल हिंदी</a:t>
            </a:r>
            <a:br/>
            <a:r>
              <a:t>• Statutory CAG Directives</a:t>
            </a:r>
            <a:br/>
            <a:r>
              <a:t>• Printable Audit Dossier</a:t>
            </a:r>
            <a:br/>
            <a:r>
              <a:t>• Live AI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• Analysis of the feasibility of the idea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Data Feasibility: 100% validated on real authenticated MoSPI data (60,359 baseline works expanded to 105,000 multi-year records spanning 2019-2024 across all 33 States/UTs).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Technical Scalability: Sub-second latency (&lt;15ms per work inference), allowing instant pre-sanction screening as a live middleware plugin inside e-SAKSHI.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Zero Operational Friction: AI model operates exclusively on mandatory fields already submitted by MPs and district authorities (no additional forms required).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• Potential challenges and risks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Algorithmic Risk (Zero-Distance KNN Collapse): Public works data contains thousands of identical civil works (e.g. ₹1.5L handpumps) that distort standard neighborhood density metrics.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Operational Risk (Field Officer Resistance): District vigilance officers reject black-box AI algorithms because they cannot legally justify scores in parliamentary reviews.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False Positive Risk: Megaprojects (e.g. ₹2 Cr regional trauma center) appear as extreme statistical outliers despite being 100% legitimate and authorized.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• Strategies for overcoming these challenges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Profile-Deduplicated LOF: Canonical feature grouping deduplicates repetitive civil works before distance calculations, preserving true neighborhood integrity.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Bilingual Plain-Language Explainability: Translates mathematical metrics into plain English and सरल हिंदी with exact CAG statutory references (GFR 149, Para 5.2).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  - Dual-Layer Hybrid Logic &amp; Feedback Loop: Statistically extreme legitimate works pass through CAG rules; human auditor resolutions dynamically calibrate decision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Potential impact on the target audience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Ministry of Statistics &amp; Programme Implementation (MoSPI): Transforms scheme administration from periodic sample reviews into automated, 100% continuous national fund surveillance.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District Authorities &amp; Implementing District Authorities (IDAs): Instant pre-sanction gatekeeping prevents illegal tender splitting before vouchers are signed or payments disbursed.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Comptroller and Auditor General (CAG) &amp; State AGs: Replaces tedious manual voucher sampling with prioritized, high-probability anomaly dossiers and pre-compiled legal checklists.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Rural Citizens &amp; Constituents: Ensures promised community assets (drinking water borewells, school additions, primary health centres) are physically delivered without ghost diversion.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Economic Benefits: Screens ₹4,000+ Cr annual scheme flow. Caught ₹432.5 Cr in high-risk works and ₹287 Cr in frozen capital. Estimated ₹100–₹200 Crore annual taxpayer savings.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Social &amp; Governance Benefits: Eliminates political patronage cartels; builds citizen trust through transparent, public-facing constituency spending scorecards.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Operational &amp; Time Efficiency: Reduces audit lead-time from 12–24 months to under 15 milliseconds, while eliminating 95% of manual file-checking drudgery for district collectors.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  - Environmental &amp; Infrastructure Integrity: Fast-tracks pending rural solar electrification, wastewater drainage, and flood protection works delayed by administrative dormancy.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• Details / Links of the references and research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4825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1. Ministry of Statistics and Programme Implementation (MoSPI), Government of India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Guidelines on Member of Parliament Local Area Development Scheme (MPLADS) — Statutory provisions on Para 3.12 (Tender procedures), Para 5.2 (45-Day Sanction SLA), and Para 2.11 (Permissible works). URL: mplads.gov.in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88336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2. Office of the Comptroller and Auditor General of India (CAG)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Performance Audit Report on Member of Parliament Local Area Development Scheme — Reports detailing chronic fund dormancy, contract splitting, March Rush fiscal dumps, and unspent constituency balances. URL: cag.gov.in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3. Ministry of Finance, Department of Expenditure, Government of India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General Financial Rules (GFR 2017) — Rule 149 governing mandatory procurement of goods &amp; services through Government e-Marketplace (GeM) and statutory e-tendering thresholds (₹5 Lakh / ₹10 Lakh).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8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4. Liu, F. T., Ting, K. M., &amp; Zhou, Z. H. (IEEE ICDM)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'Isolation Forest' — Foundations of unsupervised isolation tree algorithms for multi-dimensional anomaly detection without normality assumptions. IEEE International Conference on Data Mining.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18304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5. Breunig, M. M., Kriegel, H. P., Ng, R. T., &amp; Sander, J. (ACM SIGMOD)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'LOF: Identifying Density-Based Local Outliers' — Formulations of Local Outlier Factor and local reachability density metrics in spatial data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109728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3153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477"/>
                </a:solidFill>
                <a:latin typeface="Times New Roman"/>
              </a:defRPr>
            </a:pPr>
            <a:r>
              <a:t>6. Open Government Data (OGD) Platform India (data.gov.in)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</a:defRPr>
            </a:pPr>
            <a:r>
              <a:t>Authenticated datasets on MPLADS physical progress, financial release vs expenditure, and constituency-wise project archives (2019–2024).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11887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3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WORKING PROTOTYPE &amp; TEAM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19456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91072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910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477"/>
                </a:solidFill>
                <a:latin typeface="Times New Roman"/>
              </a:defRPr>
            </a:pPr>
            <a:r>
              <a:t>🖥️ Live Functional Prototype Modules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Geospatial GIS Anomaly Heatmap: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Interactive Leaflet India map rendering risk intensity across all 33 States/UTs with constituency-level audit drill-downs.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Works Anomaly Explorer (105k):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Full-text searchable, paginated table with real-time ML vs CAG score comparisons and multi-year temporal filtering (2019-2024).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Live AI Audit Simulator: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Interactive 'What-If' sandbox allowing evaluators to adjust project budget, delay, and village duplication to test ML risk recalculation live.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Officer Case Management Queue: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Field-ready case tracking (UNDER REVIEW, SITE INSPECTION, FALSE POSITIVE) logging auditor observations.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Official Printable CAG Dossiers: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One-click printable audit screening reports with formal case IDs, checklists, and sign/stamp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477"/>
                </a:solidFill>
                <a:latin typeface="Times New Roman"/>
              </a:defRPr>
            </a:pPr>
            <a:r>
              <a:t>👥 Team Members &amp; Project Responsibilities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Team Leader: [Leader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Lead AI/ML Architect &amp; Backend Engine (FastAPI)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Member 2: [Member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Data Pipeline, Cleaning &amp; MoSPI Scraper (Python)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Member 3: [Member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Frontend Architecture, React 18 &amp; Recharts Visualizer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Member 4: [Member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Geospatial GIS Mapping Specialist (Leaflet API)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Member 5: [Member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CAG Statutory Rules &amp; GFR Domain Compliance</a:t>
            </a:r>
          </a:p>
          <a:p>
            <a:pPr>
              <a:spcBef>
                <a:spcPts val="600"/>
              </a:spcBef>
              <a:defRPr sz="1100" b="1">
                <a:solidFill>
                  <a:srgbClr val="0F62AC"/>
                </a:solidFill>
              </a:defRPr>
            </a:pPr>
            <a:r>
              <a:t>• Member 6 / Mentor: [Mentor / Name]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Role: Quality Assurance, Audit Testing &amp;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