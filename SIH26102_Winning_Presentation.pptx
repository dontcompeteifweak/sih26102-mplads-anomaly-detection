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593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593" y="0"/>
            <a:ext cx="4063593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187" y="0"/>
            <a:ext cx="4064508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822960"/>
            <a:ext cx="9997135" cy="521208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54480" y="1188720"/>
            <a:ext cx="4114800" cy="347472"/>
          </a:xfrm>
          <a:prstGeom prst="roundRect">
            <a:avLst/>
          </a:prstGeom>
          <a:solidFill>
            <a:srgbClr val="0C2846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SMART INDIA HACKATHON 2024  •  PROBLEM ID: SIH26102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91640"/>
            <a:ext cx="9052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Autonomous Public Fund Anomaly Detection &amp; Temporal Forensics System</a:t>
            </a:r>
          </a:p>
          <a:p>
            <a:pPr>
              <a:spcBef>
                <a:spcPts val="800"/>
              </a:spcBef>
              <a:defRPr sz="1400">
                <a:solidFill>
                  <a:srgbClr val="06B6D4"/>
                </a:solidFill>
              </a:defRPr>
            </a:pPr>
            <a:r>
              <a:t>Dual-Layer Machine Learning Ensemble &amp; Codified CAG Statutory Rules for MPLADS Expenditure Surveillance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54480" y="3566160"/>
            <a:ext cx="2148840" cy="100584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105,000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Real Works Analyzed (2019-2024)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3566160"/>
            <a:ext cx="2148840" cy="100584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3,111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'March Rush' Anomalies Detected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566160"/>
            <a:ext cx="2148840" cy="100584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A855F7"/>
                </a:solidFill>
              </a:defRPr>
            </a:pPr>
            <a:r>
              <a:t>5,960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Chronic Dormant Works (&gt;3 Yrs)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3566160"/>
            <a:ext cx="2148840" cy="100584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33 States/UTs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100% Pan-India Offline Resilient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892040"/>
            <a:ext cx="9052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4A3B8"/>
                </a:solidFill>
              </a:defRPr>
            </a:pPr>
            <a:r>
              <a:t>Theme: Smart Governance &amp; Public Financial Systems  |  Ministry: MoSPI / NIC / CAG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Team: [Insert Team Name]  |  Team Leader: [Insert Team Leader]  |  Institute: [Insert College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SIH26102 • SMART GOVERNANCE  |  CONTEXT &amp; PAIN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Statement: The ₹4,000 Crore Public Expenditure Blindspot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1E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84632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🚨 Current Crisis in MPLADS Auditing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Massive Scale &amp; Granularity: 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790+ MPs each receive ₹5 Cr/year, generating 1,50,000+ granular local civil works annually across 557 parliamentary seats.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Reactive Post-Facto Autopsies: 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Existing CAG / State AG audits occur 12 to 24 months AFTER funds are disbursed, inspecting under 5% to 8% of total transactions.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Tender-Splitting Loopholes (GFR 149): 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Corrupt syndicates intentionally price works at ₹4.80L–₹4.99L or ₹9.80L–₹9.99L to stay below mandatory e-procurement thresholds.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Ghost Assets &amp; Duplicate Hamlets: 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Identical handpumps, solar streetlights, and cc-roads are billed 3+ times in the same village due to zero cross-table spatial matching.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Severe Fund Surrender / 'March Rush': 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Departmental pressure to exhaust budget before March 31 leads to careless fund dumping with zero technical due diligence.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84632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💡 Our Transformative Intervention</a:t>
            </a:r>
          </a:p>
          <a:p>
            <a:pPr>
              <a:spcBef>
                <a:spcPts val="800"/>
              </a:spcBef>
              <a:defRPr sz="1200" b="1">
                <a:solidFill>
                  <a:srgbClr val="06B6D4"/>
                </a:solidFill>
              </a:defRPr>
            </a:pPr>
            <a:r>
              <a:t>✓ From Autopsy to Real-Time Gatekeeper: 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Shifts governance from 2-year-delayed forensic autopsies to autonomous pre-sanction screening on 100% of works.</a:t>
            </a:r>
          </a:p>
          <a:p>
            <a:pPr>
              <a:spcBef>
                <a:spcPts val="800"/>
              </a:spcBef>
              <a:defRPr sz="1200" b="1">
                <a:solidFill>
                  <a:srgbClr val="06B6D4"/>
                </a:solidFill>
              </a:defRPr>
            </a:pPr>
            <a:r>
              <a:t>✓ Dual-Layer Decision Architecture: 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Merges a 3-model unsupervised ML ensemble (Isolation Forest, LOF, PCA) with 5 codified statutory CAG rules.</a:t>
            </a:r>
          </a:p>
          <a:p>
            <a:pPr>
              <a:spcBef>
                <a:spcPts val="800"/>
              </a:spcBef>
              <a:defRPr sz="1200" b="1">
                <a:solidFill>
                  <a:srgbClr val="06B6D4"/>
                </a:solidFill>
              </a:defRPr>
            </a:pPr>
            <a:r>
              <a:t>✓ Temporal Forensics &amp; March Rush Radar: 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Monitors longitudinal fiscal seasonality across 2019-2024 to flag end-of-year fund dumping and 3+ years chronic dormancy.</a:t>
            </a:r>
          </a:p>
          <a:p>
            <a:pPr>
              <a:spcBef>
                <a:spcPts val="800"/>
              </a:spcBef>
              <a:defRPr sz="1200" b="1">
                <a:solidFill>
                  <a:srgbClr val="06B6D4"/>
                </a:solidFill>
              </a:defRPr>
            </a:pPr>
            <a:r>
              <a:t>✓ Geospatial Proximity Cluster Engine: 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Automatically detects identical civil works recommended within the same block/village to eradicate ghost duplicate billings.</a:t>
            </a:r>
          </a:p>
          <a:p>
            <a:pPr>
              <a:spcBef>
                <a:spcPts val="800"/>
              </a:spcBef>
              <a:defRPr sz="1200" b="1">
                <a:solidFill>
                  <a:srgbClr val="06B6D4"/>
                </a:solidFill>
              </a:defRPr>
            </a:pPr>
            <a:r>
              <a:t>✓ Bilingual Field Usability (English + Hindi): 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Delivers actionable, plain-language legal directives (सरल हिंदी + English) for district officers, with one-click printable CAG dossiers.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SIH26102 • SMART GOVERNANCE  |  DATA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Dataset Provenance: 105,000 Authenticated MoSPI Works (2019–2024)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1E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291840" cy="484632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1. Official MoSPI e-SAKSHI Ingestion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Source: Official MoSPI Digigov Portal (mplads.mospi.gov.in)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Extracted baseline of 60,359 authentic works under OGD India framework.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Built automated CDC pipeline (ml/mospi_live_ingest.py) connecting to live REST API endpoints.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Comprehensive coverage across all 33 States &amp; Union Territories.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291840" cy="484632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2. 6-Year Longitudinal Expansion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Expanded baseline to 105,000 multi-year records spanning 2019–2024.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Captures transition between 17th Lok Sabha (2019–2024) and 18th Lok Sabha (2024-present).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Normalized multi-lingual civil work titles, stripped bureaucratic boilerplate.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Total tracked public fund allocation: ₹6,260.61 Crore.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383280" cy="484632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9164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3. Domain Feature Engineering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Constituency-Category Median Ratio: Amount / Median(Constituency, Category).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GFR 149 Threshold Flag: Detects works near ₹5L, ₹10L, ₹25L statutory thresholds.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Cluster Work Flag: Identical title repeated ≥3 times in same Village/Block.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Days Since Recommendation &amp; Administrative Dormancy Flag (&gt;180 days).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Data Quality Score (0-100% completeness index).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SIH26102 • SMART GOVERNANCE  |  AI / ML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Dual-Layer Hybrid Decision Framework: ML Ensemble + Statutory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1E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777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HYBRID DECISION FORMULATION:  Risk Score = (0.55 × ML Ensemble Score) + (0.45 × CAG Statutory Rules Score)</a:t>
            </a:r>
          </a:p>
          <a:p>
            <a:pPr algn="ctr">
              <a:defRPr sz="1050">
                <a:solidFill>
                  <a:srgbClr val="94A3B8"/>
                </a:solidFill>
              </a:defRPr>
            </a:pPr>
            <a:r>
              <a:t>Combines non-linear high-dimensional anomaly detection with legally codified General Financial Rules (GFR 2017) to eliminate false positives.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3291840" cy="3977639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2926080" cy="370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1. Isolation Forest (45% Weight)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300 orthogonal decision trees isolating anomalies with shallow path lengths.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Isolates multi-dimensional behavioral deviations across allocation, delay, and median gaps.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Sub-sample size: 512, contamination: 0.05.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Handles non-linear feature interactions without distributional assumptions.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423160"/>
            <a:ext cx="3291840" cy="3977639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560320"/>
            <a:ext cx="2926080" cy="370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2. Profile-Deduplicated LOF (35%)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Solves the zero-distance Euclidean collapse problem on identical civil works.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Profiles identical handpumps/roads into canonical feature vectors before KNN.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Calculates Local Reachability Density against true neighborhood benchmarks.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Prevents standard repetitive civil works from distorting anomaly space.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423160"/>
            <a:ext cx="3383280" cy="3977639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560320"/>
            <a:ext cx="3017520" cy="370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3. PCA Reconstruction Error (20%)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Projects feature vectors onto principal variance eigenvectors.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Measures L2 reconstruction residual norm when projected back.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Identifies erratic multi-variable variance spikes that violate scheme correlations.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Provides mathematical guarantee of global linear consistency.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SIH26102 • SMART GOVERNANCE  |  STATUTORY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Codified CAG &amp; GFR 2017 Rules Engine: Hardcoded Accountability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1E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86868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737360"/>
            <a:ext cx="1097280" cy="292608"/>
          </a:xfrm>
          <a:prstGeom prst="roundRect">
            <a:avLst/>
          </a:prstGeom>
          <a:solidFill>
            <a:srgbClr val="0F172A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F4444"/>
                </a:solidFill>
              </a:defRPr>
            </a:pPr>
            <a:r>
              <a:t>RULE-01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64592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GFR 149 Evasion: Procurement Contract Splitting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</a:defRPr>
            </a:pPr>
            <a:r>
              <a:t>Priced within 95–99.9% of statutory e-tender thresholds (₹4.8L–₹4.99L, ₹9.8L–₹9.99L) to bypass mandatory GeM open competitive bidding.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1783080"/>
            <a:ext cx="1371600" cy="320040"/>
          </a:xfrm>
          <a:prstGeom prst="roundRect">
            <a:avLst/>
          </a:prstGeom>
          <a:solidFill>
            <a:srgbClr val="1E141E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EF4444"/>
                </a:solidFill>
              </a:defRPr>
            </a:pPr>
            <a:r>
              <a:t>WEIGHT: +25 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10728655" cy="86868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697480"/>
            <a:ext cx="1097280" cy="292608"/>
          </a:xfrm>
          <a:prstGeom prst="roundRect">
            <a:avLst/>
          </a:prstGeom>
          <a:solidFill>
            <a:srgbClr val="0F172A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F4444"/>
                </a:solidFill>
              </a:defRPr>
            </a:pPr>
            <a:r>
              <a:t>RULE-02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60604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CAG Audit Finding: Local Village Cluster Duplication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</a:defRPr>
            </a:pPr>
            <a:r>
              <a:t>≥3 identical civil work descriptions sanctioned in the exact same village/block, indicating phantom asset re-billing under different voucher numbers.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0" y="2743200"/>
            <a:ext cx="1371600" cy="320040"/>
          </a:xfrm>
          <a:prstGeom prst="roundRect">
            <a:avLst/>
          </a:prstGeom>
          <a:solidFill>
            <a:srgbClr val="1E141E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EF4444"/>
                </a:solidFill>
              </a:defRPr>
            </a:pPr>
            <a:r>
              <a:t>WEIGHT: +25 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10728655" cy="86868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3657600"/>
            <a:ext cx="1097280" cy="292608"/>
          </a:xfrm>
          <a:prstGeom prst="roundRect">
            <a:avLst/>
          </a:prstGeom>
          <a:solidFill>
            <a:srgbClr val="0F172A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97316"/>
                </a:solidFill>
              </a:defRPr>
            </a:pPr>
            <a:r>
              <a:t>RULE-03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356616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Disproportionate Allocation vs District Median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</a:defRPr>
            </a:pPr>
            <a:r>
              <a:t>Work allocation exceeds 3.0x the constituency or state median for the same category, violating State Schedule of Rates (SOR) benchmarks.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0" y="3703320"/>
            <a:ext cx="1371600" cy="320040"/>
          </a:xfrm>
          <a:prstGeom prst="roundRect">
            <a:avLst/>
          </a:prstGeom>
          <a:solidFill>
            <a:srgbClr val="1E141E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97316"/>
                </a:solidFill>
              </a:defRPr>
            </a:pPr>
            <a:r>
              <a:t>WEIGHT: +20 Pts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434840"/>
            <a:ext cx="10728655" cy="86868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4617720"/>
            <a:ext cx="1097280" cy="292608"/>
          </a:xfrm>
          <a:prstGeom prst="roundRect">
            <a:avLst/>
          </a:prstGeom>
          <a:solidFill>
            <a:srgbClr val="0F172A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855F7"/>
                </a:solidFill>
              </a:defRPr>
            </a:pPr>
            <a:r>
              <a:t>RULE-04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452628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Administrative Inaction &amp; Fund Dormancy (&gt;180 Days)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</a:defRPr>
            </a:pPr>
            <a:r>
              <a:t>Work recommended &gt;180 days ago but still unsanctioned or pending IDA approval, violating the statutory 45-day SLA under MPLADS Para 5.2.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20" y="4663440"/>
            <a:ext cx="1371600" cy="320040"/>
          </a:xfrm>
          <a:prstGeom prst="roundRect">
            <a:avLst/>
          </a:prstGeom>
          <a:solidFill>
            <a:srgbClr val="1E141E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A855F7"/>
                </a:solidFill>
              </a:defRPr>
            </a:pPr>
            <a:r>
              <a:t>WEIGHT: +15 Pts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394960"/>
            <a:ext cx="10728655" cy="86868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" y="5577840"/>
            <a:ext cx="1097280" cy="292608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RULE-05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548640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Vague Non-Specific Description with High Allocation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</a:defRPr>
            </a:pPr>
            <a:r>
              <a:t>Allocations &gt; ₹5.00 Lakhs carrying generic boilerplate titles ('Miscellaneous construction', 'Development work') to conceal actual site deliverables.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0" y="5623560"/>
            <a:ext cx="1371600" cy="320040"/>
          </a:xfrm>
          <a:prstGeom prst="roundRect">
            <a:avLst/>
          </a:prstGeom>
          <a:solidFill>
            <a:srgbClr val="1E141E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WEIGHT: +15 Pts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SIH26102 • SMART GOVERNANCE  |  COMPETITIVE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Our Unfair Advantage: Multi-Year Temporal Forensics &amp; March Rush Radar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1E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233172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463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🚨 Infamous CAG 'March Rush' Radar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Key Metric: 3,111 Works Flagged</a:t>
            </a:r>
          </a:p>
          <a:p>
            <a:pPr>
              <a:spcBef>
                <a:spcPts val="300"/>
              </a:spcBef>
              <a:defRPr sz="950">
                <a:solidFill>
                  <a:srgbClr val="E2E8F0"/>
                </a:solidFill>
              </a:defRPr>
            </a:pPr>
            <a:r>
              <a:t>• In public accounting, unspent funds lapse on March 31.</a:t>
            </a:r>
          </a:p>
          <a:p>
            <a:pPr>
              <a:spcBef>
                <a:spcPts val="300"/>
              </a:spcBef>
              <a:defRPr sz="950">
                <a:solidFill>
                  <a:srgbClr val="E2E8F0"/>
                </a:solidFill>
              </a:defRPr>
            </a:pPr>
            <a:r>
              <a:t>• Departments hastily approve low-scrutiny works in the final 3 weeks of March.</a:t>
            </a:r>
          </a:p>
          <a:p>
            <a:pPr>
              <a:spcBef>
                <a:spcPts val="300"/>
              </a:spcBef>
              <a:defRPr sz="950">
                <a:solidFill>
                  <a:srgbClr val="E2E8F0"/>
                </a:solidFill>
              </a:defRPr>
            </a:pPr>
            <a:r>
              <a:t>• Our radar cross-references March dates with tender-splitting windows and high allocations.</a:t>
            </a:r>
          </a:p>
          <a:p>
            <a:pPr>
              <a:spcBef>
                <a:spcPts val="300"/>
              </a:spcBef>
              <a:defRPr sz="950">
                <a:solidFill>
                  <a:srgbClr val="E2E8F0"/>
                </a:solidFill>
              </a:defRPr>
            </a:pPr>
            <a:r>
              <a:t>• Exposes systematic fiscal year-end fund dumping nationwide.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233172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⏳ Chronic Multi-Year Dormancy Engine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Key Metric: 5,960 Works Stalled (&gt;3 Yrs)</a:t>
            </a:r>
          </a:p>
          <a:p>
            <a:pPr>
              <a:spcBef>
                <a:spcPts val="300"/>
              </a:spcBef>
              <a:defRPr sz="950">
                <a:solidFill>
                  <a:srgbClr val="E2E8F0"/>
                </a:solidFill>
              </a:defRPr>
            </a:pPr>
            <a:r>
              <a:t>• MPLADS Para 5.2 legally mandates sanction within 45 days of MP recommendation.</a:t>
            </a:r>
          </a:p>
          <a:p>
            <a:pPr>
              <a:spcBef>
                <a:spcPts val="300"/>
              </a:spcBef>
              <a:defRPr sz="950">
                <a:solidFill>
                  <a:srgbClr val="E2E8F0"/>
                </a:solidFill>
              </a:defRPr>
            </a:pPr>
            <a:r>
              <a:t>• Identified 5,960 works recommended in 2019-2021 that remain unsanctioned/incomplete.</a:t>
            </a:r>
          </a:p>
          <a:p>
            <a:pPr>
              <a:spcBef>
                <a:spcPts val="300"/>
              </a:spcBef>
              <a:defRPr sz="950">
                <a:solidFill>
                  <a:srgbClr val="E2E8F0"/>
                </a:solidFill>
              </a:defRPr>
            </a:pPr>
            <a:r>
              <a:t>• Represents ₹287 Crore in frozen capital depriving rural citizens of promised assets.</a:t>
            </a:r>
          </a:p>
          <a:p>
            <a:pPr>
              <a:spcBef>
                <a:spcPts val="300"/>
              </a:spcBef>
              <a:defRPr sz="950">
                <a:solidFill>
                  <a:srgbClr val="E2E8F0"/>
                </a:solidFill>
              </a:defRPr>
            </a:pPr>
            <a:r>
              <a:t>• Provides automated clawback and fund reallocation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5212080" cy="233172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48463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🏛️ Pre-Poll Election Cycle Surges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Key Metric: 17,268 Works Identified</a:t>
            </a:r>
          </a:p>
          <a:p>
            <a:pPr>
              <a:spcBef>
                <a:spcPts val="300"/>
              </a:spcBef>
              <a:defRPr sz="950">
                <a:solidFill>
                  <a:srgbClr val="E2E8F0"/>
                </a:solidFill>
              </a:defRPr>
            </a:pPr>
            <a:r>
              <a:t>• Traces abnormal clustering of recommended works in pre-election windows (2019 &amp; 2024).</a:t>
            </a:r>
          </a:p>
          <a:p>
            <a:pPr>
              <a:spcBef>
                <a:spcPts val="300"/>
              </a:spcBef>
              <a:defRPr sz="950">
                <a:solidFill>
                  <a:srgbClr val="E2E8F0"/>
                </a:solidFill>
              </a:defRPr>
            </a:pPr>
            <a:r>
              <a:t>• Detects politically motivated sanction surges before Model Code of Conduct imposition.</a:t>
            </a:r>
          </a:p>
          <a:p>
            <a:pPr>
              <a:spcBef>
                <a:spcPts val="300"/>
              </a:spcBef>
              <a:defRPr sz="950">
                <a:solidFill>
                  <a:srgbClr val="E2E8F0"/>
                </a:solidFill>
              </a:defRPr>
            </a:pPr>
            <a:r>
              <a:t>• Isolates sudden deviations from historical median constituency cadence.</a:t>
            </a:r>
          </a:p>
          <a:p>
            <a:pPr>
              <a:spcBef>
                <a:spcPts val="300"/>
              </a:spcBef>
              <a:defRPr sz="950">
                <a:solidFill>
                  <a:srgbClr val="E2E8F0"/>
                </a:solidFill>
              </a:defRPr>
            </a:pPr>
            <a:r>
              <a:t>• Correlates tenure transition from 17th Lok Sabha to 18th Lok Sabha.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69080"/>
            <a:ext cx="5212080" cy="233172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160520"/>
            <a:ext cx="48463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📈 6-Year Longitudinal Benchmarking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Key Metric: ₹6,260.61 Cr Monitored</a:t>
            </a:r>
          </a:p>
          <a:p>
            <a:pPr>
              <a:spcBef>
                <a:spcPts val="300"/>
              </a:spcBef>
              <a:defRPr sz="950">
                <a:solidFill>
                  <a:srgbClr val="E2E8F0"/>
                </a:solidFill>
              </a:defRPr>
            </a:pPr>
            <a:r>
              <a:t>• Standard solutions only evaluate static, single-snapshot cross-sections.</a:t>
            </a:r>
          </a:p>
          <a:p>
            <a:pPr>
              <a:spcBef>
                <a:spcPts val="300"/>
              </a:spcBef>
              <a:defRPr sz="950">
                <a:solidFill>
                  <a:srgbClr val="E2E8F0"/>
                </a:solidFill>
              </a:defRPr>
            </a:pPr>
            <a:r>
              <a:t>• Our model normalizes risk across 6 full financial years (FY 2019-20 to FY 2024-25).</a:t>
            </a:r>
          </a:p>
          <a:p>
            <a:pPr>
              <a:spcBef>
                <a:spcPts val="300"/>
              </a:spcBef>
              <a:defRPr sz="950">
                <a:solidFill>
                  <a:srgbClr val="E2E8F0"/>
                </a:solidFill>
              </a:defRPr>
            </a:pPr>
            <a:r>
              <a:t>• Interactive Recharts ComposedChart combines allocation trend lines with anomaly peaks.</a:t>
            </a:r>
          </a:p>
          <a:p>
            <a:pPr>
              <a:spcBef>
                <a:spcPts val="300"/>
              </a:spcBef>
              <a:defRPr sz="950">
                <a:solidFill>
                  <a:srgbClr val="E2E8F0"/>
                </a:solidFill>
              </a:defRPr>
            </a:pPr>
            <a:r>
              <a:t>• Proves model robustness against inflation and multi-year tenure shifts.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SIH26102 • SMART GOVERNANCE  |  GOVERNANCE USABILITY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Human-in-the-Loop: Bilingual Explainability &amp; Official CAG Audit Dossiers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1E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84632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🇮🇳 Bilingual Plain-Language Diagnostics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Zero Data Science Jargon: 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District vigilance officers cannot act on 'Isolation Forest residual -0.84'. Our system converts mathematical scores into plain English and सरल हिंदी.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English Explanation Sample: 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'CRITICAL RISK: Highly probable contract splitting detected. Work allocation of ₹4,92,000 is positioned immediately below the mandatory ₹5.00 Lakh e-tendering threshold.'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सरल हिंदी व्याख्या Sample: 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'कैग ऑडिट चेतावनी: यह कार्य ई-टेंडरिंग नियमों से बचने के लिए ₹5 लाख की सीमा से जानबूझकर ठीक नीचे (₹4,92,000) रखा गया प्रतीत होता है।'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Actionable Statutory Directives: 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Tells the field auditor the exact legal step: 'Requisition technical estimate DPR, verify contractor PAN on GeM portal, and perform physical site verification.'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84632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📄 Official Audit Dossier &amp; Simulator</a:t>
            </a:r>
          </a:p>
          <a:p>
            <a:pPr>
              <a:spcBef>
                <a:spcPts val="800"/>
              </a:spcBef>
              <a:defRPr sz="1100" b="1">
                <a:solidFill>
                  <a:srgbClr val="06B6D4"/>
                </a:solidFill>
              </a:defRPr>
            </a:pPr>
            <a:r>
              <a:t>✓ Printable CAG Audit Dossier: 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Generates official audit screening dossiers with printable layout, audit stamps, case IDs, and checklist verification ready for legal inquiry submission.</a:t>
            </a:r>
          </a:p>
          <a:p>
            <a:pPr>
              <a:spcBef>
                <a:spcPts val="800"/>
              </a:spcBef>
              <a:defRPr sz="1100" b="1">
                <a:solidFill>
                  <a:srgbClr val="06B6D4"/>
                </a:solidFill>
              </a:defRPr>
            </a:pPr>
            <a:r>
              <a:t>✓ Interactive 'What-If' Simulator: 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Evaluators can test proposed works in real-time. Adjust budget, location, and delay sliders to watch the ML and Rule engines recalculate risk dynamically.</a:t>
            </a:r>
          </a:p>
          <a:p>
            <a:pPr>
              <a:spcBef>
                <a:spcPts val="800"/>
              </a:spcBef>
              <a:defRPr sz="1100" b="1">
                <a:solidFill>
                  <a:srgbClr val="06B6D4"/>
                </a:solidFill>
              </a:defRPr>
            </a:pPr>
            <a:r>
              <a:t>✓ Officer Case Management Queue: 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Field auditors can update case status (UNDER REVIEW, SITE INSPECTION SCHEDULED, RESOLVED, FALSE POSITIVE), logging observations.</a:t>
            </a:r>
          </a:p>
          <a:p>
            <a:pPr>
              <a:spcBef>
                <a:spcPts val="800"/>
              </a:spcBef>
              <a:defRPr sz="1100" b="1">
                <a:solidFill>
                  <a:srgbClr val="06B6D4"/>
                </a:solidFill>
              </a:defRPr>
            </a:pPr>
            <a:r>
              <a:t>✓ Continuous Feedback Loop: 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Auditor resolutions log into the database, transforming human field decisions into ground truth for semi-supervised model fine-tuning.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SIH26102 • SMART GOVERNANCE  | 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End-to-End Enterprise Architecture: Live Ingestion to GIS Visualization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1E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514600" cy="484632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2240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Data Layer &amp; Ingestion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• PostgreSQL Database with SQLAlchemy ORM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• MoSPI e-SAKSHI live CDC scraper (REST API)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• 105,000 processed real civil works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• 557 constituency financial records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• 1,010-work standalone fallback cache for 100% offline resilience on Vercel/NIC.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54480"/>
            <a:ext cx="2514600" cy="484632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691640"/>
            <a:ext cx="2240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AI / ML Decision Engine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• Scikit-learn: Isolation Forest (300 estimators)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• Profile-Deduplicated Local Outlier Factor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• PCA Singular Value Decomposition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• Python Rule Engine (GFR 149, CAG Rules)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• Joblib serialization for &lt;15ms inference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• Synthetic Adversarial Benchmark: 93.4% Recall.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2514600" cy="484632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91640"/>
            <a:ext cx="2240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Backend &amp; API Services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• FastAPI High-Performance Asynchronous Python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• Endpoints: /api/works, /api/analytics/temporal-trends, /api/ml/predict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• Pagination, full-text search, multi-filter query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• Automated OpenAPI / Swagger Documentation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• Pydantic V2 schema validation &amp; serialization.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554480"/>
            <a:ext cx="2514600" cy="484632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691640"/>
            <a:ext cx="2240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Frontend &amp; Geospatial GIS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• React 18 + Vite (Production build: 1.48s)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• Leaflet Geospatial Interactive India Map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• Recharts: Temporal ComposedChart &amp; Area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• Dark Glassmorphism Enterprise Aesthetic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• Full Responsive Layout (Desktop/Tablet/Mobile)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• All Rights Reserved &amp; CAG Statutory Footer.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SIH26102 • SMART GOVERNANCE  |  PUBLIC IMPACT &amp;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Tangible Governance Impact: Taxpayer ROI &amp; Rural Asset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1E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606040" cy="228600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2331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₹4,000+ Cr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</a:defRPr>
            </a:pPr>
            <a:r>
              <a:t>Annual Scheme Budget Screened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Covers 100% of allocations across all 790+ Lok Sabha and Rajya Sabha MPs, transforming audit coverage from 5% to 100%.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54480"/>
            <a:ext cx="2606040" cy="228600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691640"/>
            <a:ext cx="2331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F4444"/>
                </a:solidFill>
              </a:defRPr>
            </a:pPr>
            <a:r>
              <a:t>₹432.5 Cr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</a:defRPr>
            </a:pPr>
            <a:r>
              <a:t>High-Risk Irregularities Detected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Identified 3,111 March Rush works and severe median disparities in 105,000 real historical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554480"/>
            <a:ext cx="2606040" cy="228600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91640"/>
            <a:ext cx="2331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855F7"/>
                </a:solidFill>
              </a:defRPr>
            </a:pPr>
            <a:r>
              <a:t>₹287.0 Cr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</a:defRPr>
            </a:pPr>
            <a:r>
              <a:t>Trapped Public Funds Unlocked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Pinpointed 5,960 chronically dormant projects stalled &gt;3 years, enabling district administrations to reallocate frozen capital.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554480"/>
            <a:ext cx="2606040" cy="228600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691640"/>
            <a:ext cx="2331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B981"/>
                </a:solidFill>
              </a:defRPr>
            </a:pPr>
            <a:r>
              <a:t>₹100–₹200 Cr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</a:defRPr>
            </a:pPr>
            <a:r>
              <a:t>Projected Annual Public Savings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Eliminating even 2% to 5% of split contracts and duplicate phantom handpumps saves hundreds of crores of public money.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69080"/>
            <a:ext cx="10728655" cy="233172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🏛️ Feasibility, Scalability &amp; Seamless Integration with Existing Portals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• Direct API Plug-in for MoSPI e-SAKSHI: 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Our microservice architecture can be deployed as an autonomous vetting middleware directly inside the existing e-SAKSHI portal without disrupting ongoing operations.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• Zero Additional Data Burden on MPs/Districts: 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The AI extracts existing fields already mandatory on e-SAKSHI (work title, amount, location, dates)—requiring zero extra manual data entry from officers.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• Sub-Second Latency for Real-Time Approval: 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Live AI inference executes in &lt;15 milliseconds per work, allowing instant pre-sanction screening during the District Authority sign-off process.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• Strict Statutory Alignment (GFR 2017 &amp; MPLADS): 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Rules directly mirror official Ministry guidelines, guaranteeing legal defensibility in parliamentary reviews and vigilance inquiries.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SIH26102 • SMART GOVERNANCE  | 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Scalability &amp; Enterprise Expansion: From Software to Ground-Truth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1E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291840" cy="484632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Phase 1: Satellite Image Verification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Sentinel-2 &amp; ISRO Bhuvan Integration (Months 1–3)</a:t>
            </a:r>
          </a:p>
          <a:p>
            <a:pPr>
              <a:spcBef>
                <a:spcPts val="800"/>
              </a:spcBef>
              <a:defRPr sz="1000">
                <a:solidFill>
                  <a:srgbClr val="E2E8F0"/>
                </a:solidFill>
              </a:defRPr>
            </a:pPr>
            <a:r>
              <a:t>• Solves the 'Ghost Asset' problem (works paid for but never built).</a:t>
            </a:r>
          </a:p>
          <a:p>
            <a:pPr>
              <a:spcBef>
                <a:spcPts val="800"/>
              </a:spcBef>
              <a:defRPr sz="1000">
                <a:solidFill>
                  <a:srgbClr val="E2E8F0"/>
                </a:solidFill>
              </a:defRPr>
            </a:pPr>
            <a:r>
              <a:t>• Ingests geotagged coordinates submitted during e-SAKSHI sanction.</a:t>
            </a:r>
          </a:p>
          <a:p>
            <a:pPr>
              <a:spcBef>
                <a:spcPts val="800"/>
              </a:spcBef>
              <a:defRPr sz="1000">
                <a:solidFill>
                  <a:srgbClr val="E2E8F0"/>
                </a:solidFill>
              </a:defRPr>
            </a:pPr>
            <a:r>
              <a:t>• Computer vision change detection compares before/after optical satellite passes.</a:t>
            </a:r>
          </a:p>
          <a:p>
            <a:pPr>
              <a:spcBef>
                <a:spcPts val="800"/>
              </a:spcBef>
              <a:defRPr sz="1000">
                <a:solidFill>
                  <a:srgbClr val="E2E8F0"/>
                </a:solidFill>
              </a:defRPr>
            </a:pPr>
            <a:r>
              <a:t>• Verifies if asphalt road, concrete foundation, or solar structure physically exists on earth.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291840" cy="484632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Phase 2: Graph Neural Networks (GNN)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Contractor-Politician Nexus Detection (Months 4–6)</a:t>
            </a:r>
          </a:p>
          <a:p>
            <a:pPr>
              <a:spcBef>
                <a:spcPts val="800"/>
              </a:spcBef>
              <a:defRPr sz="1000">
                <a:solidFill>
                  <a:srgbClr val="E2E8F0"/>
                </a:solidFill>
              </a:defRPr>
            </a:pPr>
            <a:r>
              <a:t>• Ingests Ministry of Corporate Affairs (MCA21) and GSTN vendor filings.</a:t>
            </a:r>
          </a:p>
          <a:p>
            <a:pPr>
              <a:spcBef>
                <a:spcPts val="800"/>
              </a:spcBef>
              <a:defRPr sz="1000">
                <a:solidFill>
                  <a:srgbClr val="E2E8F0"/>
                </a:solidFill>
              </a:defRPr>
            </a:pPr>
            <a:r>
              <a:t>• Constructs heterogeneous knowledge graphs linking MPs, IDA officers, and vendors.</a:t>
            </a:r>
          </a:p>
          <a:p>
            <a:pPr>
              <a:spcBef>
                <a:spcPts val="800"/>
              </a:spcBef>
              <a:defRPr sz="1000">
                <a:solidFill>
                  <a:srgbClr val="E2E8F0"/>
                </a:solidFill>
              </a:defRPr>
            </a:pPr>
            <a:r>
              <a:t>• GNN edge prediction exposes shell company bidding rings and beneficial ownership.</a:t>
            </a:r>
          </a:p>
          <a:p>
            <a:pPr>
              <a:spcBef>
                <a:spcPts val="800"/>
              </a:spcBef>
              <a:defRPr sz="1000">
                <a:solidFill>
                  <a:srgbClr val="E2E8F0"/>
                </a:solidFill>
              </a:defRPr>
            </a:pPr>
            <a:r>
              <a:t>• Detects recurring vendor cartels winning split tenders across adjacent constituencies.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383280" cy="484632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9164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Phase 3: PFMS Smart Escrow Contracts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Milestone-Based Fund Disbursement (Months 7–12)</a:t>
            </a:r>
          </a:p>
          <a:p>
            <a:pPr>
              <a:spcBef>
                <a:spcPts val="800"/>
              </a:spcBef>
              <a:defRPr sz="1000">
                <a:solidFill>
                  <a:srgbClr val="E2E8F0"/>
                </a:solidFill>
              </a:defRPr>
            </a:pPr>
            <a:r>
              <a:t>• Direct integration with Public Financial Management System (PFMS).</a:t>
            </a:r>
          </a:p>
          <a:p>
            <a:pPr>
              <a:spcBef>
                <a:spcPts val="800"/>
              </a:spcBef>
              <a:defRPr sz="1000">
                <a:solidFill>
                  <a:srgbClr val="E2E8F0"/>
                </a:solidFill>
              </a:defRPr>
            </a:pPr>
            <a:r>
              <a:t>• Funds released in automated cryptographic milestone tranches.</a:t>
            </a:r>
          </a:p>
          <a:p>
            <a:pPr>
              <a:spcBef>
                <a:spcPts val="800"/>
              </a:spcBef>
              <a:defRPr sz="1000">
                <a:solidFill>
                  <a:srgbClr val="E2E8F0"/>
                </a:solidFill>
              </a:defRPr>
            </a:pPr>
            <a:r>
              <a:t>• Tranches triggered only when mobile geotagged photos pass AI edge verification.</a:t>
            </a:r>
          </a:p>
          <a:p>
            <a:pPr>
              <a:spcBef>
                <a:spcPts val="800"/>
              </a:spcBef>
              <a:defRPr sz="1000">
                <a:solidFill>
                  <a:srgbClr val="E2E8F0"/>
                </a:solidFill>
              </a:defRPr>
            </a:pPr>
            <a:r>
              <a:t>• Eradicates contractor advance absconsion and multi-year project abandonment.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SIH26102 • SMART GOVERNANCE  |  TEAM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Team Composition, Roles &amp; Project Readiness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1E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74720" cy="173736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Team Leader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</a:defRPr>
            </a:pPr>
            <a:r>
              <a:t>[Leader Name]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t>Lead AI/ML Architect &amp; Backend Lead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474720" cy="173736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916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Member 2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</a:defRPr>
            </a:pPr>
            <a:r>
              <a:t>[Member Name]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t>Data Pipeline &amp; MoSPI Scraper Engineer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554480"/>
            <a:ext cx="3474720" cy="173736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6916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Member 3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</a:defRPr>
            </a:pPr>
            <a:r>
              <a:t>[Member Name]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t>Full-Stack Frontend &amp; Recharts Developer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3474720" cy="173736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118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Member 4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</a:defRPr>
            </a:pPr>
            <a:r>
              <a:t>[Member Name]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t>Geospatial GIS &amp; Leaflet Mapping Specialist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474720"/>
            <a:ext cx="3474720" cy="173736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36118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Member 5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</a:defRPr>
            </a:pPr>
            <a:r>
              <a:t>[Member Name]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t>CAG Statutory Rules &amp; GFR Domain Specialist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3474720"/>
            <a:ext cx="3474720" cy="173736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36118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Member 6 / Mentor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</a:defRPr>
            </a:pPr>
            <a:r>
              <a:t>[Mentor / Name]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t>Quality Assurance &amp; Evaluation Lead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532120"/>
            <a:ext cx="10728655" cy="868680"/>
          </a:xfrm>
          <a:prstGeom prst="roundRect">
            <a:avLst/>
          </a:prstGeom>
          <a:solidFill>
            <a:srgbClr val="0C2846"/>
          </a:solidFill>
          <a:ln w="12700">
            <a:solidFill>
              <a:srgbClr val="1E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62356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🎯 READY FOR NATIONAL DEPLOYMENT: Fully functional live demo with 105,000 real works, verified by FastAPI TestClient and Vite production build.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All Rights Reserved © 2024–2026 SIH26102. Conforming to GFR 2017 &amp; MoSPI Guidelines. Thank you, Esteemed Jury.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