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h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920240" cy="8917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74320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D4477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960120"/>
            <a:ext cx="6583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5" name="Picture 4" descr="sih_bulb_cen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645920"/>
            <a:ext cx="3091586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645920"/>
            <a:ext cx="6400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b="1" sz="1450">
                <a:solidFill>
                  <a:srgbClr val="000000"/>
                </a:solidFill>
                <a:latin typeface="Times New Roman"/>
              </a:rPr>
              <a:t>• Problem Statement ID –</a:t>
            </a:r>
            <a:r>
              <a:rPr b="0" sz="1350">
                <a:solidFill>
                  <a:srgbClr val="1E293B"/>
                </a:solidFill>
                <a:latin typeface="Times New Roman"/>
              </a:rPr>
              <a:t> SIH26102</a:t>
            </a:r>
          </a:p>
          <a:p>
            <a:pPr>
              <a:spcBef>
                <a:spcPts val="700"/>
              </a:spcBef>
            </a:pPr>
            <a:r>
              <a:rPr b="1" sz="1450">
                <a:solidFill>
                  <a:srgbClr val="000000"/>
                </a:solidFill>
                <a:latin typeface="Times New Roman"/>
              </a:rPr>
              <a:t>• Problem Statement Title-</a:t>
            </a:r>
            <a:r>
              <a:rPr b="0" sz="1350">
                <a:solidFill>
                  <a:srgbClr val="1E293B"/>
                </a:solidFill>
                <a:latin typeface="Times New Roman"/>
              </a:rPr>
              <a:t> Autonomous Public Fund Anomaly Detection &amp; Temporal Forensics System for MPLADS</a:t>
            </a:r>
          </a:p>
          <a:p>
            <a:pPr>
              <a:spcBef>
                <a:spcPts val="700"/>
              </a:spcBef>
            </a:pPr>
            <a:r>
              <a:rPr b="1" sz="1450">
                <a:solidFill>
                  <a:srgbClr val="000000"/>
                </a:solidFill>
                <a:latin typeface="Times New Roman"/>
              </a:rPr>
              <a:t>• Theme-</a:t>
            </a:r>
            <a:r>
              <a:rPr b="0" sz="1350">
                <a:solidFill>
                  <a:srgbClr val="1E293B"/>
                </a:solidFill>
                <a:latin typeface="Times New Roman"/>
              </a:rPr>
              <a:t> Smart Governance &amp; Public Financial Systems</a:t>
            </a:r>
          </a:p>
          <a:p>
            <a:pPr>
              <a:spcBef>
                <a:spcPts val="700"/>
              </a:spcBef>
            </a:pPr>
            <a:r>
              <a:rPr b="1" sz="1450">
                <a:solidFill>
                  <a:srgbClr val="000000"/>
                </a:solidFill>
                <a:latin typeface="Times New Roman"/>
              </a:rPr>
              <a:t>• PS Category- Software/Hardware</a:t>
            </a:r>
            <a:r>
              <a:rPr b="0" sz="1350">
                <a:solidFill>
                  <a:srgbClr val="1E293B"/>
                </a:solidFill>
                <a:latin typeface="Times New Roman"/>
              </a:rPr>
              <a:t> Software</a:t>
            </a:r>
          </a:p>
          <a:p>
            <a:pPr>
              <a:spcBef>
                <a:spcPts val="700"/>
              </a:spcBef>
            </a:pPr>
            <a:r>
              <a:rPr b="1" sz="1450">
                <a:solidFill>
                  <a:srgbClr val="000000"/>
                </a:solidFill>
                <a:latin typeface="Times New Roman"/>
              </a:rPr>
              <a:t>• Team ID-</a:t>
            </a:r>
            <a:r>
              <a:rPr b="0" sz="1350">
                <a:solidFill>
                  <a:srgbClr val="1E293B"/>
                </a:solidFill>
                <a:latin typeface="Times New Roman"/>
              </a:rPr>
              <a:t> T106</a:t>
            </a:r>
          </a:p>
          <a:p>
            <a:pPr>
              <a:spcBef>
                <a:spcPts val="700"/>
              </a:spcBef>
            </a:pPr>
            <a:r>
              <a:rPr b="1" sz="1450">
                <a:solidFill>
                  <a:srgbClr val="000000"/>
                </a:solidFill>
                <a:latin typeface="Times New Roman"/>
              </a:rPr>
              <a:t>• Team Name (Registered on portal)-</a:t>
            </a:r>
            <a:r>
              <a:rPr b="0" sz="1350">
                <a:solidFill>
                  <a:srgbClr val="1E293B"/>
                </a:solidFill>
                <a:latin typeface="Times New Roman"/>
              </a:rPr>
              <a:t> RunTime Terror</a:t>
            </a:r>
          </a:p>
          <a:p>
            <a:pPr>
              <a:spcBef>
                <a:spcPts val="700"/>
              </a:spcBef>
            </a:pPr>
            <a:r>
              <a:rPr b="1" sz="1450">
                <a:solidFill>
                  <a:srgbClr val="000000"/>
                </a:solidFill>
                <a:latin typeface="Times New Roman"/>
              </a:rPr>
              <a:t>• Team Leader-</a:t>
            </a:r>
            <a:r>
              <a:rPr b="0" sz="1350">
                <a:solidFill>
                  <a:srgbClr val="1E293B"/>
                </a:solidFill>
                <a:latin typeface="Times New Roman"/>
              </a:rPr>
              <a:t> Akshat Mittal</a:t>
            </a:r>
          </a:p>
          <a:p>
            <a:pPr>
              <a:spcBef>
                <a:spcPts val="700"/>
              </a:spcBef>
            </a:pPr>
            <a:r>
              <a:rPr b="1" sz="1450">
                <a:solidFill>
                  <a:srgbClr val="000000"/>
                </a:solidFill>
                <a:latin typeface="Times New Roman"/>
              </a:rPr>
              <a:t>• Team Members-</a:t>
            </a:r>
            <a:r>
              <a:rPr b="0" sz="1350">
                <a:solidFill>
                  <a:srgbClr val="1E293B"/>
                </a:solidFill>
                <a:latin typeface="Times New Roman"/>
              </a:rPr>
              <a:t> Khushi, Aryan Shahi, Abhay Pratap, Gaurav Shukla, Shreya Srivastava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45DA0"/>
          </a:solidFill>
          <a:ln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Team ID: T106  |  Team Name: RunTime Terror                                                                                            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82880"/>
            <a:ext cx="128016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E293B"/>
                </a:solidFill>
                <a:latin typeface="Times New Roman"/>
              </a:defRPr>
            </a:pPr>
            <a:r>
              <a:t>Team</a:t>
            </a:r>
            <a:br/>
            <a:r>
              <a:t>RunTime</a:t>
            </a:r>
            <a:br/>
            <a:r>
              <a:t>Terror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2860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IDEA TITLE / PROPOSED SOLUTION</a:t>
            </a:r>
          </a:p>
        </p:txBody>
      </p:sp>
      <p:pic>
        <p:nvPicPr>
          <p:cNvPr id="4" name="Picture 3" descr="sih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920240" cy="89175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45DA0"/>
          </a:solidFill>
          <a:ln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Team ID: T106  |  Team Name: RunTime Terror                                                                                              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5303520" cy="365760"/>
          </a:xfrm>
          <a:prstGeom prst="roundRect">
            <a:avLst/>
          </a:prstGeom>
          <a:solidFill>
            <a:srgbClr val="FFA05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303520" cy="2011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5120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Arial"/>
              </a:defRPr>
            </a:pPr>
            <a:r>
              <a:t>• Massive Volume Blindspot: 105,000+ MPLADS works nationwide make exhaustive manual scrutiny mathematically impossible.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Arial"/>
              </a:defRPr>
            </a:pPr>
            <a:r>
              <a:t>• Lagged Sample Autopsies: Sample-based reviews occur 12–24 months after fund disbursement when funds are already gone.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Arial"/>
              </a:defRPr>
            </a:pPr>
            <a:r>
              <a:t>• Data Siloing: Financial vouchers, execution milestone timelines, and contractor details live in disconnected databases.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Arial"/>
              </a:defRPr>
            </a:pPr>
            <a:r>
              <a:t>• Contextual Nuance: High expenditure alone is not misconduct; true anomaly detection requires multi-dimensional baseline benchmarking.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5303520" cy="365760"/>
          </a:xfrm>
          <a:prstGeom prst="roundRect">
            <a:avLst/>
          </a:prstGeom>
          <a:solidFill>
            <a:srgbClr val="FFA05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Why is it different?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51960"/>
            <a:ext cx="5303520" cy="20574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51206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b="1" sz="950">
                <a:solidFill>
                  <a:srgbClr val="EA580C"/>
                </a:solidFill>
                <a:latin typeface="Arial"/>
              </a:rPr>
              <a:t>• 🚨 March Rush Radar: </a:t>
            </a:r>
            <a:r>
              <a:rPr b="0" sz="950">
                <a:solidFill>
                  <a:srgbClr val="1E293B"/>
                </a:solidFill>
                <a:latin typeface="Arial"/>
              </a:rPr>
              <a:t>World's first temporal forensics engine catching fiscal-dump sanction surges before March 31.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9333EA"/>
                </a:solidFill>
                <a:latin typeface="Arial"/>
              </a:rPr>
              <a:t>• ⏳ Chronic Dormancy Engine: </a:t>
            </a:r>
            <a:r>
              <a:rPr b="0" sz="950">
                <a:solidFill>
                  <a:srgbClr val="1E293B"/>
                </a:solidFill>
                <a:latin typeface="Arial"/>
              </a:rPr>
              <a:t>Pinpoints long-stalled projects (&gt;3 years, ₹287 Cr) for immediate statutory clawback and reallocation.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284C7"/>
                </a:solidFill>
                <a:latin typeface="Arial"/>
              </a:rPr>
              <a:t>• 📍 Duplicate / Cluster Signals: </a:t>
            </a:r>
            <a:r>
              <a:rPr b="0" sz="950">
                <a:solidFill>
                  <a:srgbClr val="1E293B"/>
                </a:solidFill>
                <a:latin typeface="Arial"/>
              </a:rPr>
              <a:t>Geospatial NLP groups repeated works in identical villages to stop duplicate contractor billing.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59669"/>
                </a:solidFill>
                <a:latin typeface="Arial"/>
              </a:rPr>
              <a:t>• 🗣️ Bilingual + Explainable: </a:t>
            </a:r>
            <a:r>
              <a:rPr b="0" sz="950">
                <a:solidFill>
                  <a:srgbClr val="1E293B"/>
                </a:solidFill>
                <a:latin typeface="Arial"/>
              </a:rPr>
              <a:t>Translates complex AI math into plain legal English and सरल हिंदी directives with one-click CAG dossiers.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234440"/>
            <a:ext cx="5394960" cy="365760"/>
          </a:xfrm>
          <a:prstGeom prst="roundRect">
            <a:avLst/>
          </a:prstGeom>
          <a:solidFill>
            <a:srgbClr val="FFA05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Idea/Approach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91640"/>
            <a:ext cx="5394960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737360"/>
            <a:ext cx="5212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900">
                <a:solidFill>
                  <a:srgbClr val="2563EB"/>
                </a:solidFill>
                <a:latin typeface="Arial"/>
              </a:rPr>
              <a:t>[1 INGEST] </a:t>
            </a:r>
            <a:r>
              <a:rPr b="0" sz="900">
                <a:solidFill>
                  <a:srgbClr val="1E293B"/>
                </a:solidFill>
                <a:latin typeface="Arial"/>
              </a:rPr>
              <a:t>MoSPI e-SAKSHI &amp; Public Records: Ingests 105,000 national works across all 33 States/UTs.</a:t>
            </a:r>
          </a:p>
          <a:p>
            <a:pPr>
              <a:spcBef>
                <a:spcPts val="300"/>
              </a:spcBef>
            </a:pPr>
            <a:r>
              <a:rPr b="1" sz="900">
                <a:solidFill>
                  <a:srgbClr val="0891B2"/>
                </a:solidFill>
                <a:latin typeface="Arial"/>
              </a:rPr>
              <a:t>[2 CLEAN] </a:t>
            </a:r>
            <a:r>
              <a:rPr b="0" sz="900">
                <a:solidFill>
                  <a:srgbClr val="1E293B"/>
                </a:solidFill>
                <a:latin typeface="Arial"/>
              </a:rPr>
              <a:t>Feature Engineering: Computes cost-per-unit medians, GFR 149 proximity, and delay days.</a:t>
            </a:r>
          </a:p>
          <a:p>
            <a:pPr>
              <a:spcBef>
                <a:spcPts val="300"/>
              </a:spcBef>
            </a:pPr>
            <a:r>
              <a:rPr b="1" sz="900">
                <a:solidFill>
                  <a:srgbClr val="7C3AED"/>
                </a:solidFill>
                <a:latin typeface="Arial"/>
              </a:rPr>
              <a:t>[3 DETECT] </a:t>
            </a:r>
            <a:r>
              <a:rPr b="0" sz="900">
                <a:solidFill>
                  <a:srgbClr val="1E293B"/>
                </a:solidFill>
                <a:latin typeface="Arial"/>
              </a:rPr>
              <a:t>Dual Hybrid Intelligence: Isolation Forest (45%), LOF (35%), PCA (20%) + 5 codified CAG rules.</a:t>
            </a:r>
          </a:p>
          <a:p>
            <a:pPr>
              <a:spcBef>
                <a:spcPts val="300"/>
              </a:spcBef>
            </a:pPr>
            <a:r>
              <a:rPr b="1" sz="900">
                <a:solidFill>
                  <a:srgbClr val="EA580C"/>
                </a:solidFill>
                <a:latin typeface="Arial"/>
              </a:rPr>
              <a:t>[4 PRIORITIZE] </a:t>
            </a:r>
            <a:r>
              <a:rPr b="0" sz="900">
                <a:solidFill>
                  <a:srgbClr val="1E293B"/>
                </a:solidFill>
                <a:latin typeface="Arial"/>
              </a:rPr>
              <a:t>Explainable Risk Stratification: Calibrated 0-100 scores with concrete violation causes.</a:t>
            </a:r>
          </a:p>
          <a:p>
            <a:pPr>
              <a:spcBef>
                <a:spcPts val="300"/>
              </a:spcBef>
            </a:pPr>
            <a:r>
              <a:rPr b="1" sz="900">
                <a:solidFill>
                  <a:srgbClr val="16A34A"/>
                </a:solidFill>
                <a:latin typeface="Arial"/>
              </a:rPr>
              <a:t>[5 VERIFY] </a:t>
            </a:r>
            <a:r>
              <a:rPr b="0" sz="900">
                <a:solidFill>
                  <a:srgbClr val="1E293B"/>
                </a:solidFill>
                <a:latin typeface="Arial"/>
              </a:rPr>
              <a:t>Officer Workflow &amp; CAG Dossier: Printable, court-admissible audit reports for vigilance officers.</a:t>
            </a:r>
          </a:p>
        </p:txBody>
      </p:sp>
      <p:pic>
        <p:nvPicPr>
          <p:cNvPr id="15" name="Picture 14" descr="arch_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977639"/>
            <a:ext cx="539496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82880"/>
            <a:ext cx="128016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E293B"/>
                </a:solidFill>
                <a:latin typeface="Times New Roman"/>
              </a:defRPr>
            </a:pPr>
            <a:r>
              <a:t>Team</a:t>
            </a:r>
            <a:br/>
            <a:r>
              <a:t>RunTime</a:t>
            </a:r>
            <a:br/>
            <a:r>
              <a:t>Terror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2860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sih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920240" cy="89175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45DA0"/>
          </a:solidFill>
          <a:ln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Team ID: T106  |  Team Name: RunTime Terror                                                                                              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5303520" cy="365760"/>
          </a:xfrm>
          <a:prstGeom prst="roundRect">
            <a:avLst/>
          </a:prstGeom>
          <a:solidFill>
            <a:srgbClr val="FFA05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Data Flow</a:t>
            </a:r>
          </a:p>
        </p:txBody>
      </p:sp>
      <p:pic>
        <p:nvPicPr>
          <p:cNvPr id="7" name="Picture 6" descr="dataflow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5303520" cy="2286000"/>
          </a:xfrm>
          <a:prstGeom prst="rect">
            <a:avLst/>
          </a:prstGeom>
        </p:spPr>
      </p:pic>
      <p:pic>
        <p:nvPicPr>
          <p:cNvPr id="8" name="Picture 7" descr="ml_ensemble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069080"/>
            <a:ext cx="5303520" cy="22402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1234440"/>
            <a:ext cx="5394960" cy="365760"/>
          </a:xfrm>
          <a:prstGeom prst="roundRect">
            <a:avLst/>
          </a:prstGeom>
          <a:solidFill>
            <a:srgbClr val="FFA05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Prototype</a:t>
            </a:r>
          </a:p>
        </p:txBody>
      </p:sp>
      <p:pic>
        <p:nvPicPr>
          <p:cNvPr id="10" name="Picture 9" descr="proto_grid_4scree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1691640"/>
            <a:ext cx="5394960" cy="2240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4005072"/>
            <a:ext cx="5394960" cy="347472"/>
          </a:xfrm>
          <a:prstGeom prst="roundRect">
            <a:avLst/>
          </a:prstGeom>
          <a:solidFill>
            <a:srgbClr val="FFA05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Technology Stack</a:t>
            </a:r>
          </a:p>
        </p:txBody>
      </p:sp>
      <p:pic>
        <p:nvPicPr>
          <p:cNvPr id="12" name="Picture 11" descr="tech_stack_h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4389120"/>
            <a:ext cx="5394960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82880"/>
            <a:ext cx="128016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E293B"/>
                </a:solidFill>
                <a:latin typeface="Times New Roman"/>
              </a:defRPr>
            </a:pPr>
            <a:r>
              <a:t>Team</a:t>
            </a:r>
            <a:br/>
            <a:r>
              <a:t>RunTime</a:t>
            </a:r>
            <a:br/>
            <a:r>
              <a:t>Terror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2860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sih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920240" cy="89175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45DA0"/>
          </a:solidFill>
          <a:ln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Team ID: T106  |  Team Name: RunTime Terror                                                                                     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Times New Roman"/>
              </a:defRPr>
            </a:pPr>
            <a:r>
              <a:t>• Analysis of the feasibility of the idea</a:t>
            </a:r>
          </a:p>
          <a:p>
            <a:pPr>
              <a:spcBef>
                <a:spcPts val="300"/>
              </a:spcBef>
            </a:pPr>
            <a:r>
              <a:rPr b="1" sz="1150">
                <a:solidFill>
                  <a:srgbClr val="1D4477"/>
                </a:solidFill>
                <a:latin typeface="Times New Roman"/>
              </a:rPr>
              <a:t>  - Data Feasibility: </a:t>
            </a:r>
            <a:r>
              <a:rPr b="0" sz="1150">
                <a:solidFill>
                  <a:srgbClr val="1E293B"/>
                </a:solidFill>
                <a:latin typeface="Times New Roman"/>
              </a:rPr>
              <a:t>100% validated on authentic MoSPI datasets (expanded to 105,000 multi-year records spanning 2019-2024 across all 33 States/UTs).</a:t>
            </a:r>
          </a:p>
          <a:p>
            <a:pPr>
              <a:spcBef>
                <a:spcPts val="300"/>
              </a:spcBef>
            </a:pPr>
            <a:r>
              <a:rPr b="1" sz="1150">
                <a:solidFill>
                  <a:srgbClr val="1D4477"/>
                </a:solidFill>
                <a:latin typeface="Times New Roman"/>
              </a:rPr>
              <a:t>  - Technical Scalability: </a:t>
            </a:r>
            <a:r>
              <a:rPr b="0" sz="1150">
                <a:solidFill>
                  <a:srgbClr val="1E293B"/>
                </a:solidFill>
                <a:latin typeface="Times New Roman"/>
              </a:rPr>
              <a:t>Sub-second inference (&lt;15ms per work), allowing seamless real-time pre-sanction screening as a plug-in inside e-SAKSHI.</a:t>
            </a:r>
          </a:p>
          <a:p>
            <a:pPr>
              <a:spcBef>
                <a:spcPts val="300"/>
              </a:spcBef>
            </a:pPr>
            <a:r>
              <a:rPr b="1" sz="1150">
                <a:solidFill>
                  <a:srgbClr val="1D4477"/>
                </a:solidFill>
                <a:latin typeface="Times New Roman"/>
              </a:rPr>
              <a:t>  - Zero Extra Burden: </a:t>
            </a:r>
            <a:r>
              <a:rPr b="0" sz="1150">
                <a:solidFill>
                  <a:srgbClr val="1E293B"/>
                </a:solidFill>
                <a:latin typeface="Times New Roman"/>
              </a:rPr>
              <a:t>Requires zero additional manual forms from MPs or district officers; extracts existing mandatory data fields.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Times New Roman"/>
              </a:defRPr>
            </a:pPr>
            <a:r>
              <a:t>• Potential challenges and risks</a:t>
            </a:r>
          </a:p>
          <a:p>
            <a:pPr>
              <a:spcBef>
                <a:spcPts val="300"/>
              </a:spcBef>
            </a:pPr>
            <a:r>
              <a:rPr b="1" sz="1150">
                <a:solidFill>
                  <a:srgbClr val="1D4477"/>
                </a:solidFill>
                <a:latin typeface="Times New Roman"/>
              </a:rPr>
              <a:t>  - Algorithmic Risk (Zero-Distance KNN Collapse): </a:t>
            </a:r>
            <a:r>
              <a:rPr b="0" sz="1150">
                <a:solidFill>
                  <a:srgbClr val="1E293B"/>
                </a:solidFill>
                <a:latin typeface="Times New Roman"/>
              </a:rPr>
              <a:t>Public works have thousands of identical repetitive civil works that distort standard KNN distance calculations.</a:t>
            </a:r>
          </a:p>
          <a:p>
            <a:pPr>
              <a:spcBef>
                <a:spcPts val="300"/>
              </a:spcBef>
            </a:pPr>
            <a:r>
              <a:rPr b="1" sz="1150">
                <a:solidFill>
                  <a:srgbClr val="1D4477"/>
                </a:solidFill>
                <a:latin typeface="Times New Roman"/>
              </a:rPr>
              <a:t>  - Operational Risk (Auditor Adoption): </a:t>
            </a:r>
            <a:r>
              <a:rPr b="0" sz="1150">
                <a:solidFill>
                  <a:srgbClr val="1E293B"/>
                </a:solidFill>
                <a:latin typeface="Times New Roman"/>
              </a:rPr>
              <a:t>District vigilance officers reject black-box AI algorithms because they cannot legally justify scores in parliamentary reviews.</a:t>
            </a:r>
          </a:p>
          <a:p>
            <a:pPr>
              <a:spcBef>
                <a:spcPts val="300"/>
              </a:spcBef>
            </a:pPr>
            <a:r>
              <a:rPr b="1" sz="1150">
                <a:solidFill>
                  <a:srgbClr val="1D4477"/>
                </a:solidFill>
                <a:latin typeface="Times New Roman"/>
              </a:rPr>
              <a:t>  - False Positive Risk: </a:t>
            </a:r>
            <a:r>
              <a:rPr b="0" sz="1150">
                <a:solidFill>
                  <a:srgbClr val="1E293B"/>
                </a:solidFill>
                <a:latin typeface="Times New Roman"/>
              </a:rPr>
              <a:t>Legitimate mega-projects (e.g. ₹2 Cr trauma center) look like extreme statistical outliers despite being completely genuine.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6344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Times New Roman"/>
              </a:defRPr>
            </a:pPr>
            <a:r>
              <a:t>• Strategies for overcoming these challenges</a:t>
            </a:r>
          </a:p>
          <a:p>
            <a:pPr>
              <a:spcBef>
                <a:spcPts val="300"/>
              </a:spcBef>
            </a:pPr>
            <a:r>
              <a:rPr b="1" sz="1150">
                <a:solidFill>
                  <a:srgbClr val="1D4477"/>
                </a:solidFill>
                <a:latin typeface="Times New Roman"/>
              </a:rPr>
              <a:t>  - Profile-Deduplicated LOF: </a:t>
            </a:r>
            <a:r>
              <a:rPr b="0" sz="1150">
                <a:solidFill>
                  <a:srgbClr val="1E293B"/>
                </a:solidFill>
                <a:latin typeface="Times New Roman"/>
              </a:rPr>
              <a:t>Groups identical civil works profiles into canonical representations before KNN, preserving true neighborhood reachability density.</a:t>
            </a:r>
          </a:p>
          <a:p>
            <a:pPr>
              <a:spcBef>
                <a:spcPts val="300"/>
              </a:spcBef>
            </a:pPr>
            <a:r>
              <a:rPr b="1" sz="1150">
                <a:solidFill>
                  <a:srgbClr val="1D4477"/>
                </a:solidFill>
                <a:latin typeface="Times New Roman"/>
              </a:rPr>
              <a:t>  - Bilingual Plain-Language Diagnostics: </a:t>
            </a:r>
            <a:r>
              <a:rPr b="0" sz="1150">
                <a:solidFill>
                  <a:srgbClr val="1E293B"/>
                </a:solidFill>
                <a:latin typeface="Times New Roman"/>
              </a:rPr>
              <a:t>Translates mathematical metrics into plain English and सरल हिंदी with exact statutory CAG citations (GFR 149, Para 5.2).</a:t>
            </a:r>
          </a:p>
          <a:p>
            <a:pPr>
              <a:spcBef>
                <a:spcPts val="300"/>
              </a:spcBef>
            </a:pPr>
            <a:r>
              <a:rPr b="1" sz="1150">
                <a:solidFill>
                  <a:srgbClr val="1D4477"/>
                </a:solidFill>
                <a:latin typeface="Times New Roman"/>
              </a:rPr>
              <a:t>  - Dual-Layer Hybrid Logic &amp; Feedback Loop: </a:t>
            </a:r>
            <a:r>
              <a:rPr b="0" sz="1150">
                <a:solidFill>
                  <a:srgbClr val="1E293B"/>
                </a:solidFill>
                <a:latin typeface="Times New Roman"/>
              </a:rPr>
              <a:t>Statutory rules validate legitimate high-budget works; human officer resolutions dynamically calibrate decision thresholds.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82880"/>
            <a:ext cx="128016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E293B"/>
                </a:solidFill>
                <a:latin typeface="Times New Roman"/>
              </a:defRPr>
            </a:pPr>
            <a:r>
              <a:t>Team</a:t>
            </a:r>
            <a:br/>
            <a:r>
              <a:t>RunTime</a:t>
            </a:r>
            <a:br/>
            <a:r>
              <a:t>Terror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2860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sih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920240" cy="89175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45DA0"/>
          </a:solidFill>
          <a:ln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Team ID: T106  |  Team Name: RunTime Terror                                                                                     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000000"/>
                </a:solidFill>
                <a:latin typeface="Times New Roman"/>
              </a:defRPr>
            </a:pPr>
            <a:r>
              <a:t>• Potential impact on the target audience</a:t>
            </a:r>
          </a:p>
          <a:p>
            <a:pPr>
              <a:spcBef>
                <a:spcPts val="400"/>
              </a:spcBef>
            </a:pPr>
            <a:r>
              <a:rPr b="1" sz="1150">
                <a:solidFill>
                  <a:srgbClr val="1D4477"/>
                </a:solidFill>
                <a:latin typeface="Times New Roman"/>
              </a:rPr>
              <a:t>  - MoSPI National Oversight: </a:t>
            </a:r>
            <a:r>
              <a:rPr b="0" sz="1150">
                <a:solidFill>
                  <a:srgbClr val="1E293B"/>
                </a:solidFill>
                <a:latin typeface="Times New Roman"/>
              </a:rPr>
              <a:t>Transforms national scheme surveillance from periodic sample autopsies into automated, 100% continuous oversight.</a:t>
            </a:r>
          </a:p>
          <a:p>
            <a:pPr>
              <a:spcBef>
                <a:spcPts val="400"/>
              </a:spcBef>
            </a:pPr>
            <a:r>
              <a:rPr b="1" sz="1150">
                <a:solidFill>
                  <a:srgbClr val="1D4477"/>
                </a:solidFill>
                <a:latin typeface="Times New Roman"/>
              </a:rPr>
              <a:t>  - District Authorities &amp; IDAs: </a:t>
            </a:r>
            <a:r>
              <a:rPr b="0" sz="1150">
                <a:solidFill>
                  <a:srgbClr val="1E293B"/>
                </a:solidFill>
                <a:latin typeface="Times New Roman"/>
              </a:rPr>
              <a:t>Instant pre-sanction gatekeeping prevents illegal tender splitting before vouchers are signed or payments disbursed.</a:t>
            </a:r>
          </a:p>
          <a:p>
            <a:pPr>
              <a:spcBef>
                <a:spcPts val="400"/>
              </a:spcBef>
            </a:pPr>
            <a:r>
              <a:rPr b="1" sz="1150">
                <a:solidFill>
                  <a:srgbClr val="1D4477"/>
                </a:solidFill>
                <a:latin typeface="Times New Roman"/>
              </a:rPr>
              <a:t>  - CAG &amp; State AGs: </a:t>
            </a:r>
            <a:r>
              <a:rPr b="0" sz="1150">
                <a:solidFill>
                  <a:srgbClr val="1E293B"/>
                </a:solidFill>
                <a:latin typeface="Times New Roman"/>
              </a:rPr>
              <a:t>Replaces tedious manual voucher sampling with prioritized, high-probability anomaly dossiers and pre-compiled legal checklists.</a:t>
            </a:r>
          </a:p>
          <a:p>
            <a:pPr>
              <a:spcBef>
                <a:spcPts val="400"/>
              </a:spcBef>
            </a:pPr>
            <a:r>
              <a:rPr b="1" sz="1150">
                <a:solidFill>
                  <a:srgbClr val="1D4477"/>
                </a:solidFill>
                <a:latin typeface="Times New Roman"/>
              </a:rPr>
              <a:t>  - Rural Citizens &amp; Constituents: </a:t>
            </a:r>
            <a:r>
              <a:rPr b="0" sz="1150">
                <a:solidFill>
                  <a:srgbClr val="1E293B"/>
                </a:solidFill>
                <a:latin typeface="Times New Roman"/>
              </a:rPr>
              <a:t>Ensures promised community assets (drinking water, schools, primary health) are physically delivered without ghost diversion.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4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000000"/>
                </a:solidFill>
                <a:latin typeface="Times New Roman"/>
              </a:defRPr>
            </a:pPr>
            <a:r>
              <a:t>• Benefits of the solution (social, economic, environmental, etc.)</a:t>
            </a:r>
          </a:p>
          <a:p>
            <a:pPr>
              <a:spcBef>
                <a:spcPts val="400"/>
              </a:spcBef>
            </a:pPr>
            <a:r>
              <a:rPr b="1" sz="1150">
                <a:solidFill>
                  <a:srgbClr val="1D4477"/>
                </a:solidFill>
                <a:latin typeface="Times New Roman"/>
              </a:rPr>
              <a:t>  - Economic Benefits: </a:t>
            </a:r>
            <a:r>
              <a:rPr b="0" sz="1150">
                <a:solidFill>
                  <a:srgbClr val="1E293B"/>
                </a:solidFill>
                <a:latin typeface="Times New Roman"/>
              </a:rPr>
              <a:t>Screens ₹4,000+ Cr annual scheme flow. Caught ₹432.5 Cr in high-risk works and ₹287 Cr in frozen capital. Estimated ₹100–₹200 Crore annual taxpayer savings.</a:t>
            </a:r>
          </a:p>
          <a:p>
            <a:pPr>
              <a:spcBef>
                <a:spcPts val="400"/>
              </a:spcBef>
            </a:pPr>
            <a:r>
              <a:rPr b="1" sz="1150">
                <a:solidFill>
                  <a:srgbClr val="1D4477"/>
                </a:solidFill>
                <a:latin typeface="Times New Roman"/>
              </a:rPr>
              <a:t>  - Social &amp; Governance: </a:t>
            </a:r>
            <a:r>
              <a:rPr b="0" sz="1150">
                <a:solidFill>
                  <a:srgbClr val="1E293B"/>
                </a:solidFill>
                <a:latin typeface="Times New Roman"/>
              </a:rPr>
              <a:t>Eliminates political patronage cartels; builds citizen trust through transparent, public-facing constituency spending scorecards.</a:t>
            </a:r>
          </a:p>
          <a:p>
            <a:pPr>
              <a:spcBef>
                <a:spcPts val="400"/>
              </a:spcBef>
            </a:pPr>
            <a:r>
              <a:rPr b="1" sz="1150">
                <a:solidFill>
                  <a:srgbClr val="1D4477"/>
                </a:solidFill>
                <a:latin typeface="Times New Roman"/>
              </a:rPr>
              <a:t>  - Operational Efficiency: </a:t>
            </a:r>
            <a:r>
              <a:rPr b="0" sz="1150">
                <a:solidFill>
                  <a:srgbClr val="1E293B"/>
                </a:solidFill>
                <a:latin typeface="Times New Roman"/>
              </a:rPr>
              <a:t>Reduces audit lead-time from 12–24 months to under 15 milliseconds, eliminating 95% of manual file-checking drudgery.</a:t>
            </a:r>
          </a:p>
          <a:p>
            <a:pPr>
              <a:spcBef>
                <a:spcPts val="400"/>
              </a:spcBef>
            </a:pPr>
            <a:r>
              <a:rPr b="1" sz="1150">
                <a:solidFill>
                  <a:srgbClr val="1D4477"/>
                </a:solidFill>
                <a:latin typeface="Times New Roman"/>
              </a:rPr>
              <a:t>  - Infrastructure Integrity: </a:t>
            </a:r>
            <a:r>
              <a:rPr b="0" sz="1150">
                <a:solidFill>
                  <a:srgbClr val="1E293B"/>
                </a:solidFill>
                <a:latin typeface="Times New Roman"/>
              </a:rPr>
              <a:t>Fast-tracks pending rural solar electrification, wastewater drainage, and flood protection works delayed by administrative dormancy.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82880"/>
            <a:ext cx="128016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E293B"/>
                </a:solidFill>
                <a:latin typeface="Times New Roman"/>
              </a:defRPr>
            </a:pPr>
            <a:r>
              <a:t>Team</a:t>
            </a:r>
            <a:br/>
            <a:r>
              <a:t>RunTime</a:t>
            </a:r>
            <a:br/>
            <a:r>
              <a:t>Terror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2860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OFFICER / AUDITOR WORKFLOW</a:t>
            </a:r>
          </a:p>
          <a:p>
            <a:pPr algn="ctr">
              <a:defRPr sz="1000">
                <a:solidFill>
                  <a:srgbClr val="475569"/>
                </a:solidFill>
                <a:latin typeface="Arial"/>
              </a:defRPr>
            </a:pPr>
            <a:r>
              <a:t>How a district vigilance officer or auditor moves from a national signal to a CAG-ready case</a:t>
            </a:r>
          </a:p>
        </p:txBody>
      </p:sp>
      <p:pic>
        <p:nvPicPr>
          <p:cNvPr id="4" name="Picture 3" descr="sih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920240" cy="89175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45DA0"/>
          </a:solidFill>
          <a:ln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Team ID: T106  |  Team Name: RunTime Terror                                                                                              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499616" cy="320040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24128" y="1554480"/>
            <a:ext cx="548640" cy="548640"/>
          </a:xfrm>
          <a:prstGeom prst="ellipse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40817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LOGIN</a:t>
            </a:r>
          </a:p>
          <a:p>
            <a:pPr algn="ctr">
              <a:spcBef>
                <a:spcPts val="600"/>
              </a:spcBef>
              <a:defRPr sz="850">
                <a:solidFill>
                  <a:srgbClr val="475569"/>
                </a:solidFill>
              </a:defRPr>
            </a:pPr>
            <a:r>
              <a:t>Secure role-based</a:t>
            </a:r>
            <a:br/>
            <a:r>
              <a:t>auditor access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39696" y="1371600"/>
            <a:ext cx="1499616" cy="3200400"/>
          </a:xfrm>
          <a:prstGeom prst="roundRect">
            <a:avLst/>
          </a:prstGeom>
          <a:solidFill>
            <a:srgbClr val="ECFEFF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15184" y="1554480"/>
            <a:ext cx="548640" cy="548640"/>
          </a:xfrm>
          <a:prstGeom prst="ellipse">
            <a:avLst/>
          </a:prstGeom>
          <a:solidFill>
            <a:srgbClr val="0891B2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85416" y="2194560"/>
            <a:ext cx="140817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891B2"/>
                </a:solidFill>
              </a:defRPr>
            </a:pPr>
            <a:r>
              <a:t>GIS HEATMAP</a:t>
            </a:r>
          </a:p>
          <a:p>
            <a:pPr algn="ctr">
              <a:spcBef>
                <a:spcPts val="600"/>
              </a:spcBef>
              <a:defRPr sz="850">
                <a:solidFill>
                  <a:srgbClr val="475569"/>
                </a:solidFill>
              </a:defRPr>
            </a:pPr>
            <a:r>
              <a:t>See risk intensity</a:t>
            </a:r>
            <a:br/>
            <a:r>
              <a:t>across 33 States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30752" y="1371600"/>
            <a:ext cx="1499616" cy="320040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06240" y="1554480"/>
            <a:ext cx="548640" cy="548640"/>
          </a:xfrm>
          <a:prstGeom prst="ellipse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76472" y="2194560"/>
            <a:ext cx="140817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9488"/>
                </a:solidFill>
              </a:defRPr>
            </a:pPr>
            <a:r>
              <a:t>EXPLORER</a:t>
            </a:r>
          </a:p>
          <a:p>
            <a:pPr algn="ctr">
              <a:spcBef>
                <a:spcPts val="600"/>
              </a:spcBef>
              <a:defRPr sz="850">
                <a:solidFill>
                  <a:srgbClr val="475569"/>
                </a:solidFill>
              </a:defRPr>
            </a:pPr>
            <a:r>
              <a:t>Search, filter &amp;</a:t>
            </a:r>
            <a:br/>
            <a:r>
              <a:t>compare scores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21807" y="1371600"/>
            <a:ext cx="1499616" cy="320040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97295" y="1554480"/>
            <a:ext cx="548640" cy="548640"/>
          </a:xfrm>
          <a:prstGeom prst="ellipse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7" y="2194560"/>
            <a:ext cx="140817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A580C"/>
                </a:solidFill>
              </a:defRPr>
            </a:pPr>
            <a:r>
              <a:t>FLAGGED WORK</a:t>
            </a:r>
          </a:p>
          <a:p>
            <a:pPr algn="ctr">
              <a:spcBef>
                <a:spcPts val="600"/>
              </a:spcBef>
              <a:defRPr sz="850">
                <a:solidFill>
                  <a:srgbClr val="475569"/>
                </a:solidFill>
              </a:defRPr>
            </a:pPr>
            <a:r>
              <a:t>Drill into the</a:t>
            </a:r>
            <a:br/>
            <a:r>
              <a:t>work-level evidence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12864" y="1371600"/>
            <a:ext cx="1499616" cy="3200400"/>
          </a:xfrm>
          <a:prstGeom prst="roundRect">
            <a:avLst/>
          </a:prstGeom>
          <a:solidFill>
            <a:srgbClr val="FEFCE8"/>
          </a:solidFill>
          <a:ln w="19050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88352" y="1554480"/>
            <a:ext cx="548640" cy="548640"/>
          </a:xfrm>
          <a:prstGeom prst="ellipse">
            <a:avLst/>
          </a:prstGeom>
          <a:solidFill>
            <a:srgbClr val="CA8A04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8584" y="2194560"/>
            <a:ext cx="140817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A8A04"/>
                </a:solidFill>
              </a:defRPr>
            </a:pPr>
            <a:r>
              <a:t>AI SIMULATOR</a:t>
            </a:r>
          </a:p>
          <a:p>
            <a:pPr algn="ctr">
              <a:spcBef>
                <a:spcPts val="600"/>
              </a:spcBef>
              <a:defRPr sz="850">
                <a:solidFill>
                  <a:srgbClr val="475569"/>
                </a:solidFill>
              </a:defRPr>
            </a:pPr>
            <a:r>
              <a:t>Test budget, delay</a:t>
            </a:r>
            <a:br/>
            <a:r>
              <a:t>&amp; village what-ifs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19" y="1371600"/>
            <a:ext cx="1499616" cy="3200400"/>
          </a:xfrm>
          <a:prstGeom prst="roundRect">
            <a:avLst/>
          </a:prstGeom>
          <a:solidFill>
            <a:srgbClr val="FAF5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79407" y="1554480"/>
            <a:ext cx="548640" cy="548640"/>
          </a:xfrm>
          <a:prstGeom prst="ellipse">
            <a:avLst/>
          </a:prstGeom>
          <a:solidFill>
            <a:srgbClr val="9333EA"/>
          </a:solidFill>
          <a:ln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39" y="2194560"/>
            <a:ext cx="140817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333EA"/>
                </a:solidFill>
              </a:defRPr>
            </a:pPr>
            <a:r>
              <a:t>CASE QUEUE</a:t>
            </a:r>
          </a:p>
          <a:p>
            <a:pPr algn="ctr">
              <a:spcBef>
                <a:spcPts val="600"/>
              </a:spcBef>
              <a:defRPr sz="850">
                <a:solidFill>
                  <a:srgbClr val="475569"/>
                </a:solidFill>
              </a:defRPr>
            </a:pPr>
            <a:r>
              <a:t>Update status +</a:t>
            </a:r>
            <a:br/>
            <a:r>
              <a:t>record observations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94976" y="1371600"/>
            <a:ext cx="1499616" cy="32004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70464" y="1554480"/>
            <a:ext cx="548640" cy="548640"/>
          </a:xfrm>
          <a:prstGeom prst="ellipse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0696" y="2194560"/>
            <a:ext cx="140817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</a:defRPr>
            </a:pPr>
            <a:r>
              <a:t>CAG DOSSIER</a:t>
            </a:r>
          </a:p>
          <a:p>
            <a:pPr algn="ctr">
              <a:spcBef>
                <a:spcPts val="600"/>
              </a:spcBef>
              <a:defRPr sz="850">
                <a:solidFill>
                  <a:srgbClr val="475569"/>
                </a:solidFill>
              </a:defRPr>
            </a:pPr>
            <a:r>
              <a:t>Generate / print</a:t>
            </a:r>
            <a:br/>
            <a:r>
              <a:t>formal screening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54880"/>
            <a:ext cx="1106424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892040"/>
            <a:ext cx="2011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45DA0"/>
                </a:solidFill>
              </a:defRPr>
            </a:pPr>
            <a:r>
              <a:t>LIVE PROTOTYPE</a:t>
            </a:r>
            <a:br/>
            <a:r>
              <a:t>CALLOUT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26080" y="4892040"/>
            <a:ext cx="1600200" cy="1188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71800" y="4965192"/>
            <a:ext cx="150876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145DA0"/>
                </a:solidFill>
              </a:defRPr>
            </a:pPr>
            <a:r>
              <a:t>GIS</a:t>
            </a:r>
          </a:p>
          <a:p>
            <a:pPr algn="ctr"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Leaflet India</a:t>
            </a:r>
            <a:br/>
            <a:r>
              <a:t>anomaly heatmap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17720" y="4892040"/>
            <a:ext cx="1600200" cy="1188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4965192"/>
            <a:ext cx="150876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145DA0"/>
                </a:solidFill>
              </a:defRPr>
            </a:pPr>
            <a:r>
              <a:t>EXPLORER</a:t>
            </a:r>
          </a:p>
          <a:p>
            <a:pPr algn="ctr"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105k searchable</a:t>
            </a:r>
            <a:br/>
            <a:r>
              <a:t>works grid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4892040"/>
            <a:ext cx="1600200" cy="1188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4965192"/>
            <a:ext cx="150876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145DA0"/>
                </a:solidFill>
              </a:defRPr>
            </a:pPr>
            <a:r>
              <a:t>SIMULATOR</a:t>
            </a:r>
          </a:p>
          <a:p>
            <a:pPr algn="ctr"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Live what-if risk</a:t>
            </a:r>
            <a:br/>
            <a:r>
              <a:t>recalculation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01000" y="4892040"/>
            <a:ext cx="1600200" cy="1188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4965192"/>
            <a:ext cx="150876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145DA0"/>
                </a:solidFill>
              </a:defRPr>
            </a:pPr>
            <a:r>
              <a:t>QUEUE</a:t>
            </a:r>
          </a:p>
          <a:p>
            <a:pPr algn="ctr"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UNDER REVIEW /</a:t>
            </a:r>
            <a:br/>
            <a:r>
              <a:t>SITE INSPECTION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92640" y="4892040"/>
            <a:ext cx="1600200" cy="1188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38360" y="4965192"/>
            <a:ext cx="150876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145DA0"/>
                </a:solidFill>
              </a:defRPr>
            </a:pPr>
            <a:r>
              <a:t>DOSSIER</a:t>
            </a:r>
          </a:p>
          <a:p>
            <a:pPr algn="ctr"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Printable audit</a:t>
            </a:r>
            <a:br/>
            <a:r>
              <a:t>screening report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82880"/>
            <a:ext cx="128016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E293B"/>
                </a:solidFill>
                <a:latin typeface="Times New Roman"/>
              </a:defRPr>
            </a:pPr>
            <a:r>
              <a:t>Team</a:t>
            </a:r>
            <a:br/>
            <a:r>
              <a:t>RunTime</a:t>
            </a:r>
            <a:br/>
            <a:r>
              <a:t>Terror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2860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RESEARCH REFERENCES &amp; TEAM</a:t>
            </a:r>
          </a:p>
        </p:txBody>
      </p:sp>
      <p:pic>
        <p:nvPicPr>
          <p:cNvPr id="4" name="Picture 3" descr="sih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920240" cy="89175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45DA0"/>
          </a:solidFill>
          <a:ln>
            <a:solidFill>
              <a:srgbClr val="145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Team ID: T106  |  Team Name: RunTime Terror                                                                                              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303520" cy="4297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477"/>
                </a:solidFill>
                <a:latin typeface="Times New Roman"/>
              </a:defRPr>
            </a:pPr>
            <a:r>
              <a:t>• Statutory Governance &amp; Academic Citations</a:t>
            </a:r>
          </a:p>
          <a:p>
            <a:pPr>
              <a:spcBef>
                <a:spcPts val="600"/>
              </a:spcBef>
              <a:defRPr sz="1050" b="1">
                <a:solidFill>
                  <a:srgbClr val="145DA0"/>
                </a:solidFill>
                <a:latin typeface="Times New Roman"/>
              </a:defRPr>
            </a:pPr>
            <a:r>
              <a:t>1. MoSPI, Government of India (Guidelines on MPLADS)</a:t>
            </a:r>
          </a:p>
          <a:p>
            <a:pPr>
              <a:defRPr sz="950">
                <a:solidFill>
                  <a:srgbClr val="1E293B"/>
                </a:solidFill>
                <a:latin typeface="Times New Roman"/>
              </a:defRPr>
            </a:pPr>
            <a:r>
              <a:t>Para 3.12 (Tendering procedures), Para 5.2 (45-Day Sanction SLA), and Para 2.11 (Permissible public community assets).</a:t>
            </a:r>
          </a:p>
          <a:p>
            <a:pPr>
              <a:spcBef>
                <a:spcPts val="600"/>
              </a:spcBef>
              <a:defRPr sz="1050" b="1">
                <a:solidFill>
                  <a:srgbClr val="145DA0"/>
                </a:solidFill>
                <a:latin typeface="Times New Roman"/>
              </a:defRPr>
            </a:pPr>
            <a:r>
              <a:t>2. Office of the Comptroller &amp; Auditor General of India (CAG)</a:t>
            </a:r>
          </a:p>
          <a:p>
            <a:pPr>
              <a:defRPr sz="950">
                <a:solidFill>
                  <a:srgbClr val="1E293B"/>
                </a:solidFill>
                <a:latin typeface="Times New Roman"/>
              </a:defRPr>
            </a:pPr>
            <a:r>
              <a:t>Performance Audit Reports on MPLADS: Fund dormancy, tender splitting, and March Rush fiscal dump analyses.</a:t>
            </a:r>
          </a:p>
          <a:p>
            <a:pPr>
              <a:spcBef>
                <a:spcPts val="600"/>
              </a:spcBef>
              <a:defRPr sz="1050" b="1">
                <a:solidFill>
                  <a:srgbClr val="145DA0"/>
                </a:solidFill>
                <a:latin typeface="Times New Roman"/>
              </a:defRPr>
            </a:pPr>
            <a:r>
              <a:t>3. Ministry of Finance, Department of Expenditure (GFR 2017)</a:t>
            </a:r>
          </a:p>
          <a:p>
            <a:pPr>
              <a:defRPr sz="950">
                <a:solidFill>
                  <a:srgbClr val="1E293B"/>
                </a:solidFill>
                <a:latin typeface="Times New Roman"/>
              </a:defRPr>
            </a:pPr>
            <a:r>
              <a:t>Rule 149: Mandatory GeM public procurement thresholds (&lt;₹5 Lakh / ₹10 Lakh) preventing artificial work fragmentation.</a:t>
            </a:r>
          </a:p>
          <a:p>
            <a:pPr>
              <a:spcBef>
                <a:spcPts val="600"/>
              </a:spcBef>
              <a:defRPr sz="1050" b="1">
                <a:solidFill>
                  <a:srgbClr val="145DA0"/>
                </a:solidFill>
                <a:latin typeface="Times New Roman"/>
              </a:defRPr>
            </a:pPr>
            <a:r>
              <a:t>4. Liu, F. T., Ting, K. M., &amp; Zhou, Z. H. (IEEE ICDM)</a:t>
            </a:r>
          </a:p>
          <a:p>
            <a:pPr>
              <a:defRPr sz="950">
                <a:solidFill>
                  <a:srgbClr val="1E293B"/>
                </a:solidFill>
                <a:latin typeface="Times New Roman"/>
              </a:defRPr>
            </a:pPr>
            <a:r>
              <a:t>'Isolation Forest' — Foundations of unsupervised isolation tree algorithms for multi-dimensional anomaly detection.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297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37160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477"/>
                </a:solidFill>
                <a:latin typeface="Times New Roman"/>
              </a:defRPr>
            </a:pPr>
            <a:r>
              <a:t>• Team RunTime Terror (T106) Roster</a:t>
            </a:r>
          </a:p>
          <a:p>
            <a:pPr>
              <a:spcBef>
                <a:spcPts val="500"/>
              </a:spcBef>
              <a:defRPr sz="1050" b="1">
                <a:solidFill>
                  <a:srgbClr val="145DA0"/>
                </a:solidFill>
                <a:latin typeface="Times New Roman"/>
              </a:defRPr>
            </a:pPr>
            <a:r>
              <a:t>• Team Leader: Akshat Mittal</a:t>
            </a:r>
          </a:p>
          <a:p>
            <a:pPr>
              <a:defRPr sz="950">
                <a:solidFill>
                  <a:srgbClr val="1E293B"/>
                </a:solidFill>
                <a:latin typeface="Times New Roman"/>
              </a:defRPr>
            </a:pPr>
            <a:r>
              <a:t>  Lead AI/ML Architect &amp; Backend Engine (FastAPI, Scikit-Learn)</a:t>
            </a:r>
          </a:p>
          <a:p>
            <a:pPr>
              <a:spcBef>
                <a:spcPts val="500"/>
              </a:spcBef>
              <a:defRPr sz="1050" b="1">
                <a:solidFill>
                  <a:srgbClr val="145DA0"/>
                </a:solidFill>
                <a:latin typeface="Times New Roman"/>
              </a:defRPr>
            </a:pPr>
            <a:r>
              <a:t>• Member 2: Khushi</a:t>
            </a:r>
          </a:p>
          <a:p>
            <a:pPr>
              <a:defRPr sz="950">
                <a:solidFill>
                  <a:srgbClr val="1E293B"/>
                </a:solidFill>
                <a:latin typeface="Times New Roman"/>
              </a:defRPr>
            </a:pPr>
            <a:r>
              <a:t>  Data Pipeline, MoSPI Scraper &amp; Schema Cleaning (Python)</a:t>
            </a:r>
          </a:p>
          <a:p>
            <a:pPr>
              <a:spcBef>
                <a:spcPts val="500"/>
              </a:spcBef>
              <a:defRPr sz="1050" b="1">
                <a:solidFill>
                  <a:srgbClr val="145DA0"/>
                </a:solidFill>
                <a:latin typeface="Times New Roman"/>
              </a:defRPr>
            </a:pPr>
            <a:r>
              <a:t>• Member 3: Aryan Shahi</a:t>
            </a:r>
          </a:p>
          <a:p>
            <a:pPr>
              <a:defRPr sz="950">
                <a:solidFill>
                  <a:srgbClr val="1E293B"/>
                </a:solidFill>
                <a:latin typeface="Times New Roman"/>
              </a:defRPr>
            </a:pPr>
            <a:r>
              <a:t>  Frontend Architecture, React 18 &amp; Recharts Data Visualizer</a:t>
            </a:r>
          </a:p>
          <a:p>
            <a:pPr>
              <a:spcBef>
                <a:spcPts val="500"/>
              </a:spcBef>
              <a:defRPr sz="1050" b="1">
                <a:solidFill>
                  <a:srgbClr val="145DA0"/>
                </a:solidFill>
                <a:latin typeface="Times New Roman"/>
              </a:defRPr>
            </a:pPr>
            <a:r>
              <a:t>• Member 4: Abhay Pratap</a:t>
            </a:r>
          </a:p>
          <a:p>
            <a:pPr>
              <a:defRPr sz="950">
                <a:solidFill>
                  <a:srgbClr val="1E293B"/>
                </a:solidFill>
                <a:latin typeface="Times New Roman"/>
              </a:defRPr>
            </a:pPr>
            <a:r>
              <a:t>  Geospatial GIS Specialist (Leaflet API &amp; Heatmap Engine)</a:t>
            </a:r>
          </a:p>
          <a:p>
            <a:pPr>
              <a:spcBef>
                <a:spcPts val="500"/>
              </a:spcBef>
              <a:defRPr sz="1050" b="1">
                <a:solidFill>
                  <a:srgbClr val="145DA0"/>
                </a:solidFill>
                <a:latin typeface="Times New Roman"/>
              </a:defRPr>
            </a:pPr>
            <a:r>
              <a:t>• Member 5: Gaurav Shukla</a:t>
            </a:r>
          </a:p>
          <a:p>
            <a:pPr>
              <a:defRPr sz="950">
                <a:solidFill>
                  <a:srgbClr val="1E293B"/>
                </a:solidFill>
                <a:latin typeface="Times New Roman"/>
              </a:defRPr>
            </a:pPr>
            <a:r>
              <a:t>  CAG Statutory Rules &amp; GFR Domain Compliance Engineering</a:t>
            </a:r>
          </a:p>
          <a:p>
            <a:pPr>
              <a:spcBef>
                <a:spcPts val="500"/>
              </a:spcBef>
              <a:defRPr sz="1050" b="1">
                <a:solidFill>
                  <a:srgbClr val="145DA0"/>
                </a:solidFill>
                <a:latin typeface="Times New Roman"/>
              </a:defRPr>
            </a:pPr>
            <a:r>
              <a:t>• Member 6: Shreya Srivastava</a:t>
            </a:r>
          </a:p>
          <a:p>
            <a:pPr>
              <a:defRPr sz="950">
                <a:solidFill>
                  <a:srgbClr val="1E293B"/>
                </a:solidFill>
                <a:latin typeface="Times New Roman"/>
              </a:defRPr>
            </a:pPr>
            <a:r>
              <a:t>  Quality Assurance, Audit Testing &amp; Evaluation Lead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715000"/>
            <a:ext cx="11064240" cy="384048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47857"/>
                </a:solidFill>
              </a:defRPr>
            </a:pPr>
            <a:r>
              <a:t>🎯 100% FUNCTIONAL PROTOTYPE • VALIDATED ON 105,000 REAL MOSPI WORKS ACROSS ALL 33 STATES &amp; UTs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