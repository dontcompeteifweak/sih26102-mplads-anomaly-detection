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82880"/>
            <a:ext cx="914400" cy="1508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20040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D4477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051560"/>
            <a:ext cx="6583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6" name="Picture 5" descr="sih_bulb_ce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554480"/>
            <a:ext cx="43891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691640"/>
            <a:ext cx="6400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b="1" sz="1550">
                <a:solidFill>
                  <a:srgbClr val="000000"/>
                </a:solidFill>
                <a:latin typeface="Times New Roman"/>
              </a:rPr>
              <a:t>• Problem Statement ID –</a:t>
            </a:r>
            <a:r>
              <a:rPr b="0" sz="1450">
                <a:solidFill>
                  <a:srgbClr val="1E293B"/>
                </a:solidFill>
                <a:latin typeface="Times New Roman"/>
              </a:rPr>
              <a:t> SIH26102</a:t>
            </a:r>
          </a:p>
          <a:p>
            <a:pPr>
              <a:spcBef>
                <a:spcPts val="800"/>
              </a:spcBef>
            </a:pPr>
            <a:r>
              <a:rPr b="1" sz="1550">
                <a:solidFill>
                  <a:srgbClr val="000000"/>
                </a:solidFill>
                <a:latin typeface="Times New Roman"/>
              </a:rPr>
              <a:t>• Problem Statement Title-</a:t>
            </a:r>
            <a:r>
              <a:rPr b="0" sz="1450">
                <a:solidFill>
                  <a:srgbClr val="1E293B"/>
                </a:solidFill>
                <a:latin typeface="Times New Roman"/>
              </a:rPr>
              <a:t> Autonomous Public Fund Anomaly Detection &amp; Temporal Forensics System for MPLADS</a:t>
            </a:r>
          </a:p>
          <a:p>
            <a:pPr>
              <a:spcBef>
                <a:spcPts val="800"/>
              </a:spcBef>
            </a:pPr>
            <a:r>
              <a:rPr b="1" sz="1550">
                <a:solidFill>
                  <a:srgbClr val="000000"/>
                </a:solidFill>
                <a:latin typeface="Times New Roman"/>
              </a:rPr>
              <a:t>• Theme-</a:t>
            </a:r>
            <a:r>
              <a:rPr b="0" sz="1450">
                <a:solidFill>
                  <a:srgbClr val="1E293B"/>
                </a:solidFill>
                <a:latin typeface="Times New Roman"/>
              </a:rPr>
              <a:t> Smart Governance &amp; Public Financial Systems</a:t>
            </a:r>
          </a:p>
          <a:p>
            <a:pPr>
              <a:spcBef>
                <a:spcPts val="800"/>
              </a:spcBef>
            </a:pPr>
            <a:r>
              <a:rPr b="1" sz="1550">
                <a:solidFill>
                  <a:srgbClr val="000000"/>
                </a:solidFill>
                <a:latin typeface="Times New Roman"/>
              </a:rPr>
              <a:t>• PS Category- Software/Hardware</a:t>
            </a:r>
            <a:r>
              <a:rPr b="0" sz="1450">
                <a:solidFill>
                  <a:srgbClr val="1E293B"/>
                </a:solidFill>
                <a:latin typeface="Times New Roman"/>
              </a:rPr>
              <a:t> Software</a:t>
            </a:r>
          </a:p>
          <a:p>
            <a:pPr>
              <a:spcBef>
                <a:spcPts val="800"/>
              </a:spcBef>
            </a:pPr>
            <a:r>
              <a:rPr b="1" sz="1550">
                <a:solidFill>
                  <a:srgbClr val="000000"/>
                </a:solidFill>
                <a:latin typeface="Times New Roman"/>
              </a:rPr>
              <a:t>• Team ID-</a:t>
            </a:r>
            <a:r>
              <a:rPr b="0" sz="1450">
                <a:solidFill>
                  <a:srgbClr val="1E293B"/>
                </a:solidFill>
                <a:latin typeface="Times New Roman"/>
              </a:rPr>
              <a:t> T106</a:t>
            </a:r>
          </a:p>
          <a:p>
            <a:pPr>
              <a:spcBef>
                <a:spcPts val="800"/>
              </a:spcBef>
            </a:pPr>
            <a:r>
              <a:rPr b="1" sz="1550">
                <a:solidFill>
                  <a:srgbClr val="000000"/>
                </a:solidFill>
                <a:latin typeface="Times New Roman"/>
              </a:rPr>
              <a:t>• Team Name (Registered on portal)-</a:t>
            </a:r>
            <a:r>
              <a:rPr b="0" sz="1450">
                <a:solidFill>
                  <a:srgbClr val="1E293B"/>
                </a:solidFill>
                <a:latin typeface="Times New Roman"/>
              </a:rPr>
              <a:t> RunTime Terror</a:t>
            </a:r>
          </a:p>
          <a:p>
            <a:pPr>
              <a:spcBef>
                <a:spcPts val="800"/>
              </a:spcBef>
            </a:pPr>
            <a:r>
              <a:rPr b="1" sz="1550">
                <a:solidFill>
                  <a:srgbClr val="000000"/>
                </a:solidFill>
                <a:latin typeface="Times New Roman"/>
              </a:rPr>
              <a:t>• Team Leader-</a:t>
            </a:r>
            <a:r>
              <a:rPr b="0" sz="1450">
                <a:solidFill>
                  <a:srgbClr val="1E293B"/>
                </a:solidFill>
                <a:latin typeface="Times New Roman"/>
              </a:rPr>
              <a:t> Akshat Mittal</a:t>
            </a:r>
          </a:p>
          <a:p>
            <a:pPr>
              <a:spcBef>
                <a:spcPts val="800"/>
              </a:spcBef>
            </a:pPr>
            <a:r>
              <a:rPr b="1" sz="1550">
                <a:solidFill>
                  <a:srgbClr val="000000"/>
                </a:solidFill>
                <a:latin typeface="Times New Roman"/>
              </a:rPr>
              <a:t>• Team Members-</a:t>
            </a:r>
            <a:r>
              <a:rPr b="0" sz="1450">
                <a:solidFill>
                  <a:srgbClr val="1E293B"/>
                </a:solidFill>
                <a:latin typeface="Times New Roman"/>
              </a:rPr>
              <a:t> Khushi, Aryan Shahi, Abhay Pratap, Gaurav Shukla, Shreya Srivastava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6291072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291072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274320"/>
            <a:ext cx="1280160" cy="10515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3E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6576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IDEA TITLE</a:t>
            </a:r>
          </a:p>
        </p:txBody>
      </p:sp>
      <p:pic>
        <p:nvPicPr>
          <p:cNvPr id="5" name="Picture 4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37160"/>
            <a:ext cx="914400" cy="1463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6291072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91072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 u="sng">
                <a:solidFill>
                  <a:srgbClr val="1E5A99"/>
                </a:solidFill>
                <a:latin typeface="Times New Roman"/>
              </a:defRPr>
            </a:pPr>
            <a:r>
              <a:t>❖Proposed Solution (Describe your Idea/Solution/Prototype)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3566160" cy="4069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477"/>
                </a:solidFill>
                <a:latin typeface="Times New Roman"/>
              </a:defRPr>
            </a:pPr>
            <a:r>
              <a:t>• Detailed explanation of the proposed solution: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Dual-Layer Hybrid Decision Framework: Integrates a 3-model unsupervised ML ensemble (Isolation Forest 45%, Profile-Deduplicated LOF 35%, PCA 20%) with 5 codified statutory CAG rules.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Real-Time Pre-Sanction Gatekeeper: Screens 100% of public works transactions before fund disbursement, replacing 24-month delayed sample autopsies.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National Ingestion Scope: Ingests 105,000 authentic civil works across all 33 States &amp; UTs (2019-2024), monitoring ₹6,260 Cr in scheme expenditure.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65960"/>
            <a:ext cx="3566160" cy="4069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1031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477"/>
                </a:solidFill>
                <a:latin typeface="Times New Roman"/>
              </a:defRPr>
            </a:pPr>
            <a:r>
              <a:t>• How it addresses the problem: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Solves 5% Audit Blindspot: Traditional CAG audits inspect &lt;8% of transactions 12–24 months late; our system audits 100% of works in under 15 milliseconds.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Stops GFR 149 Evasion: Automatically catches contract-splitting intentionally priced at ₹4.80L–₹4.99L or ₹9.80L–₹9.99L to bypass mandatory GeM e-tenders.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Prevents Ghost Village Duplication: Geospatial NLP cross-references identical works repeated in the same village/block to block duplicate contractor billing.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65960"/>
            <a:ext cx="3566160" cy="4069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21031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D4477"/>
                </a:solidFill>
                <a:latin typeface="Times New Roman"/>
              </a:defRPr>
            </a:pPr>
            <a:r>
              <a:t>• Innovation and uniqueness of the solution: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🚨 The 'March Rush' Radar: First-of-its-kind temporal forensic engine detecting Q4 fiscal-dump sanctions before March 31 (3,111 works flagged nationwide).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⏳ Chronic Dormancy Engine: Pinpointed ₹287 Cr in 5,960 works stalled &gt;3 years from 2019–2021 for fund clawback and reallocation.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Times New Roman"/>
              </a:defRPr>
            </a:pPr>
            <a:r>
              <a:t>  - 🇮🇳 Bilingual Usability: Converts math scores into plain English + सरल हिंदी directives with printable official CAG dossiers.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274320"/>
            <a:ext cx="1280160" cy="10515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3E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6576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37160"/>
            <a:ext cx="914400" cy="1463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6291072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91072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• Technologies to be used (programming languages, frameworks, hardware)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AI / ML Decision Engine: Scikit-learn (Isolation Forest, Profile-Deduplicated LOF, PCA SVD), Joblib, NumPy, Pandas</a:t>
            </a:r>
            <a:br/>
            <a:r>
              <a:t>  - Backend &amp; APIs: FastAPI (Asynchronous Python 3.12), SQLAlchemy ORM, Pydantic V2 schemas, Uvicorn</a:t>
            </a:r>
            <a:br/>
            <a:r>
              <a:t>  - Database &amp; Ingestion: PostgreSQL 16 (105k works, 557 seats), MoSPI e-SAKSHI live CDC scraper (REST API)</a:t>
            </a:r>
            <a:br/>
            <a:r>
              <a:t>  - Frontend &amp; GIS: React 18, Vite, Leaflet Geospatial GIS, Recharts Data Visualizer (100% Offline Demo Resilient)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• Methodology and process for implementation (Flow Charts / Architecture Workflow)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2057400" cy="2743200"/>
          </a:xfrm>
          <a:prstGeom prst="roundRect">
            <a:avLst/>
          </a:prstGeom>
          <a:solidFill>
            <a:srgbClr val="EEF5FF"/>
          </a:solidFill>
          <a:ln w="19050">
            <a:solidFill>
              <a:srgbClr val="0F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355848"/>
            <a:ext cx="1911096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62AC"/>
                </a:solidFill>
              </a:defRPr>
            </a:pPr>
            <a:r>
              <a:t>1. Data Ingestion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• MoSPI e-SAKSHI API</a:t>
            </a:r>
            <a:br/>
            <a:r>
              <a:t>• 105,000 Real Works</a:t>
            </a:r>
            <a:br/>
            <a:r>
              <a:t>• Deduplication &amp; NLP</a:t>
            </a:r>
            <a:br/>
            <a:r>
              <a:t>• Completeness Scoring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24328" y="4434840"/>
            <a:ext cx="146304" cy="228600"/>
          </a:xfrm>
          <a:prstGeom prst="rightArrow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88920" y="3246120"/>
            <a:ext cx="2057400" cy="2743200"/>
          </a:xfrm>
          <a:prstGeom prst="roundRect">
            <a:avLst/>
          </a:prstGeom>
          <a:solidFill>
            <a:srgbClr val="F5F8FF"/>
          </a:solidFill>
          <a:ln w="19050">
            <a:solidFill>
              <a:srgbClr val="0F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2072" y="3355848"/>
            <a:ext cx="1911096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62AC"/>
                </a:solidFill>
              </a:defRPr>
            </a:pPr>
            <a:r>
              <a:t>2. Feature Engineering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• Constituency Median</a:t>
            </a:r>
            <a:br/>
            <a:r>
              <a:t>• GFR 149 Proximity Flag</a:t>
            </a:r>
            <a:br/>
            <a:r>
              <a:t>• Village Cluster Matching</a:t>
            </a:r>
            <a:br/>
            <a:r>
              <a:t>• Days Since Rec. (&gt;180d)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64608" y="4434840"/>
            <a:ext cx="146304" cy="228600"/>
          </a:xfrm>
          <a:prstGeom prst="rightArrow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0" y="3246120"/>
            <a:ext cx="2057400" cy="2743200"/>
          </a:xfrm>
          <a:prstGeom prst="roundRect">
            <a:avLst/>
          </a:prstGeom>
          <a:solidFill>
            <a:srgbClr val="EEF5FF"/>
          </a:solidFill>
          <a:ln w="19050">
            <a:solidFill>
              <a:srgbClr val="0F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3355848"/>
            <a:ext cx="1911096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62AC"/>
                </a:solidFill>
              </a:defRPr>
            </a:pPr>
            <a:r>
              <a:t>3. Dual Hybrid ML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• Isolation Forest (45%)</a:t>
            </a:r>
            <a:br/>
            <a:r>
              <a:t>• Deduplicated LOF (35%)</a:t>
            </a:r>
            <a:br/>
            <a:r>
              <a:t>• PCA Reconstruction (20%)</a:t>
            </a:r>
            <a:br/>
            <a:r>
              <a:t>• 5 Codified CAG Rules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04888" y="4434840"/>
            <a:ext cx="146304" cy="228600"/>
          </a:xfrm>
          <a:prstGeom prst="rightArrow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69480" y="3246120"/>
            <a:ext cx="2057400" cy="2743200"/>
          </a:xfrm>
          <a:prstGeom prst="roundRect">
            <a:avLst/>
          </a:prstGeom>
          <a:solidFill>
            <a:srgbClr val="F5F8FF"/>
          </a:solidFill>
          <a:ln w="19050">
            <a:solidFill>
              <a:srgbClr val="0F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2" y="3355848"/>
            <a:ext cx="1911096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62AC"/>
                </a:solidFill>
              </a:defRPr>
            </a:pPr>
            <a:r>
              <a:t>4. Temporal Forensics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• 'March Rush' Radar</a:t>
            </a:r>
            <a:br/>
            <a:r>
              <a:t>• Chronic Dormancy (&gt;3y)</a:t>
            </a:r>
            <a:br/>
            <a:r>
              <a:t>• Pre-Poll Election Surges</a:t>
            </a:r>
            <a:br/>
            <a:r>
              <a:t>• Longitudinal Scan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8" y="4434840"/>
            <a:ext cx="146304" cy="228600"/>
          </a:xfrm>
          <a:prstGeom prst="rightArrow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09760" y="3246120"/>
            <a:ext cx="2057400" cy="2743200"/>
          </a:xfrm>
          <a:prstGeom prst="roundRect">
            <a:avLst/>
          </a:prstGeom>
          <a:solidFill>
            <a:srgbClr val="EEF5FF"/>
          </a:solidFill>
          <a:ln w="19050">
            <a:solidFill>
              <a:srgbClr val="0F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82912" y="3355848"/>
            <a:ext cx="1911096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62AC"/>
                </a:solidFill>
              </a:defRPr>
            </a:pPr>
            <a:r>
              <a:t>5. Bilingual Action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• English + सरल हिंदी</a:t>
            </a:r>
            <a:br/>
            <a:r>
              <a:t>• Statutory Directives</a:t>
            </a:r>
            <a:br/>
            <a:r>
              <a:t>• Printable CAG Dossier</a:t>
            </a:r>
            <a:br/>
            <a:r>
              <a:t>• AI Simulator Sandbox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274320"/>
            <a:ext cx="1280160" cy="10515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3E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6576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5" name="Picture 4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37160"/>
            <a:ext cx="914400" cy="1463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6291072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91072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64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00000"/>
                </a:solidFill>
                <a:latin typeface="Times New Roman"/>
              </a:defRPr>
            </a:pPr>
            <a:r>
              <a:t>• Analysis of the feasibility of the idea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Data Feasibility: 100% validated on real authenticated MoSPI data (60,359 baseline works expanded to 105,000 multi-year records spanning 2019-2024 across all 33 States/UTs).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Technical Scalability: Sub-second latency (&lt;15ms per work inference), allowing seamless real-time pre-sanction screening as a live middleware plugin inside e-SAKSHI.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Zero Operational Friction: AI model operates exclusively on mandatory fields already submitted by MPs and district authorities (no additional forms required).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4368"/>
            <a:ext cx="11064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00000"/>
                </a:solidFill>
                <a:latin typeface="Times New Roman"/>
              </a:defRPr>
            </a:pPr>
            <a:r>
              <a:t>• Potential challenges and risks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Algorithmic Risk (Zero-Distance KNN Collapse): Public works data contains thousands of identical civil works (e.g. ₹1.5L handpumps) that distort standard neighborhood density metrics.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Operational Risk (Field Officer Resistance): District vigilance officers reject black-box AI algorithms because they cannot legally justify scores in parliamentary reviews.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False Positive Risk: Megaprojects (e.g. ₹2 Cr regional trauma center) appear as extreme statistical outliers despite being 100% legitimate and authorized.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17136"/>
            <a:ext cx="11064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000000"/>
                </a:solidFill>
                <a:latin typeface="Times New Roman"/>
              </a:defRPr>
            </a:pPr>
            <a:r>
              <a:t>• Strategies for overcoming these challenges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Profile-Deduplicated LOF: Canonical feature grouping deduplicates repetitive civil works before distance calculations, preserving true neighborhood reachability density.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Bilingual Plain-Language Explainability: Translates mathematical metrics into plain English and सरल हिंदी with exact CAG statutory references (GFR 149, Para 5.2).</a:t>
            </a:r>
          </a:p>
          <a:p>
            <a:pPr>
              <a:spcBef>
                <a:spcPts val="4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Dual-Layer Hybrid Logic &amp; Feedback Loop: Statistically extreme legitimate works pass through CAG rules; human auditor resolutions dynamically calibrate decision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274320"/>
            <a:ext cx="1280160" cy="10515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3E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6576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37160"/>
            <a:ext cx="914400" cy="1463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6291072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91072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110642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• Potential impact on the target audience</a:t>
            </a:r>
          </a:p>
          <a:p>
            <a:pPr>
              <a:spcBef>
                <a:spcPts val="5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Ministry of Statistics &amp; Programme Implementation (MoSPI): Transforms national scheme surveillance from periodic sample autopsies into automated, 100% continuous oversight.</a:t>
            </a:r>
          </a:p>
          <a:p>
            <a:pPr>
              <a:spcBef>
                <a:spcPts val="5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District Authorities &amp; Implementing District Authorities (IDAs): Instant pre-sanction gatekeeping prevents illegal tender splitting before vouchers are signed or payments disbursed.</a:t>
            </a:r>
          </a:p>
          <a:p>
            <a:pPr>
              <a:spcBef>
                <a:spcPts val="5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Comptroller and Auditor General (CAG) &amp; State AGs: Replaces tedious manual voucher sampling with prioritized, high-probability anomaly dossiers and pre-compiled legal checklists.</a:t>
            </a:r>
          </a:p>
          <a:p>
            <a:pPr>
              <a:spcBef>
                <a:spcPts val="5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Rural Citizens &amp; Constituents: Ensures promised community assets (drinking water borewells, school additions, primary health centres) are physically delivered without ghost diversion.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40"/>
            <a:ext cx="110642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Times New Roman"/>
              </a:defRPr>
            </a:pPr>
            <a:r>
              <a:t>• Benefits of the solution (social, economic, environmental, etc.)</a:t>
            </a:r>
          </a:p>
          <a:p>
            <a:pPr>
              <a:spcBef>
                <a:spcPts val="5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Economic Benefits: Screens ₹4,000+ Cr annual scheme flow. Caught ₹432.5 Cr in high-risk works and ₹287 Cr in frozen capital. Estimated ₹100–₹200 Crore annual taxpayer savings.</a:t>
            </a:r>
          </a:p>
          <a:p>
            <a:pPr>
              <a:spcBef>
                <a:spcPts val="5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Social &amp; Governance Benefits: Eliminates political patronage cartels; builds citizen trust through transparent, public-facing constituency spending scorecards.</a:t>
            </a:r>
          </a:p>
          <a:p>
            <a:pPr>
              <a:spcBef>
                <a:spcPts val="5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Operational &amp; Time Efficiency: Reduces audit lead-time from 12–24 months to under 15 milliseconds, eliminating 95% of manual file-checking drudgery for district collectors.</a:t>
            </a:r>
          </a:p>
          <a:p>
            <a:pPr>
              <a:spcBef>
                <a:spcPts val="500"/>
              </a:spcBef>
              <a:defRPr sz="1250">
                <a:solidFill>
                  <a:srgbClr val="0F172A"/>
                </a:solidFill>
                <a:latin typeface="Times New Roman"/>
              </a:defRPr>
            </a:pPr>
            <a:r>
              <a:t>  - Environmental &amp; Infrastructure Integrity: Fast-tracks pending rural solar electrification, wastewater drainage, and flood protection works delayed by administrative dormancy.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274320"/>
            <a:ext cx="1280160" cy="10515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3E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6576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5" name="Picture 4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37160"/>
            <a:ext cx="914400" cy="1463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6291072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91072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50" b="1">
                <a:solidFill>
                  <a:srgbClr val="000000"/>
                </a:solidFill>
                <a:latin typeface="Times New Roman"/>
              </a:defRPr>
            </a:pPr>
            <a:r>
              <a:t>• Details / Links of the references and research 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11064240" cy="640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93392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477"/>
                </a:solidFill>
                <a:latin typeface="Times New Roman"/>
              </a:defRPr>
            </a:pPr>
            <a:r>
              <a:t>1. Ministry of Statistics and Programme Implementation (MoSPI), Government of India</a:t>
            </a:r>
          </a:p>
          <a:p>
            <a:pPr>
              <a:spcBef>
                <a:spcPts val="100"/>
              </a:spcBef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Guidelines on Member of Parliament Local Area Development Scheme (MPLADS) — Statutory provisions on Para 3.12 (Tender procedures), Para 5.2 (45-Day Sanction SLA), and Para 2.11 (Permissible works). URL: mplads.gov.in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11064240" cy="640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79192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477"/>
                </a:solidFill>
                <a:latin typeface="Times New Roman"/>
              </a:defRPr>
            </a:pPr>
            <a:r>
              <a:t>2. Office of the Comptroller and Auditor General of India (CAG)</a:t>
            </a:r>
          </a:p>
          <a:p>
            <a:pPr>
              <a:spcBef>
                <a:spcPts val="100"/>
              </a:spcBef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Performance Audit Report on Member of Parliament Local Area Development Scheme — Reports detailing chronic fund dormancy, contract splitting, March Rush fiscal dumps, and unspent constituency balances. URL: cag.gov.in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1064240" cy="640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64992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477"/>
                </a:solidFill>
                <a:latin typeface="Times New Roman"/>
              </a:defRPr>
            </a:pPr>
            <a:r>
              <a:t>3. Ministry of Finance, Department of Expenditure, Government of India</a:t>
            </a:r>
          </a:p>
          <a:p>
            <a:pPr>
              <a:spcBef>
                <a:spcPts val="100"/>
              </a:spcBef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General Financial Rules (GFR 2017) — Rule 149 governing mandatory procurement of goods &amp; services through Government e-Marketplace (GeM) and statutory e-tendering thresholds (₹5 Lakh / ₹10 Lakh).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23360"/>
            <a:ext cx="11064240" cy="640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50792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477"/>
                </a:solidFill>
                <a:latin typeface="Times New Roman"/>
              </a:defRPr>
            </a:pPr>
            <a:r>
              <a:t>4. Liu, F. T., Ting, K. M., &amp; Zhou, Z. H. (IEEE ICDM)</a:t>
            </a:r>
          </a:p>
          <a:p>
            <a:pPr>
              <a:spcBef>
                <a:spcPts val="100"/>
              </a:spcBef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'Isolation Forest' — Foundations of unsupervised isolation tree algorithms for multi-dimensional anomaly detection without normality assumptions. IEEE International Conference on Data Mining.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09160"/>
            <a:ext cx="11064240" cy="640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736592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477"/>
                </a:solidFill>
                <a:latin typeface="Times New Roman"/>
              </a:defRPr>
            </a:pPr>
            <a:r>
              <a:t>5. Breunig, M. M., Kriegel, H. P., Ng, R. T., &amp; Sander, J. (ACM SIGMOD)</a:t>
            </a:r>
          </a:p>
          <a:p>
            <a:pPr>
              <a:spcBef>
                <a:spcPts val="100"/>
              </a:spcBef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'LOF: Identifying Density-Based Local Outliers' — Formulations of Local Outlier Factor and local reachability density metrics in spatial data structures.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60"/>
            <a:ext cx="11064240" cy="640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22392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4477"/>
                </a:solidFill>
                <a:latin typeface="Times New Roman"/>
              </a:defRPr>
            </a:pPr>
            <a:r>
              <a:t>6. Open Government Data (OGD) Platform India (data.gov.in)</a:t>
            </a:r>
          </a:p>
          <a:p>
            <a:pPr>
              <a:spcBef>
                <a:spcPts val="100"/>
              </a:spcBef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Authenticated datasets on MPLADS physical progress, financial release vs expenditure, and constituency-wise project archives (2019–2024).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274320"/>
            <a:ext cx="1280160" cy="10515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3E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  <a:latin typeface="Times New Roman"/>
              </a:defRPr>
            </a:pPr>
            <a:r>
              <a:t>Team</a:t>
            </a:r>
            <a:br/>
            <a:r>
              <a:t>RunTime</a:t>
            </a:r>
            <a:br/>
            <a:r>
              <a:t>Terror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6576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WORKING PROTOTYPE &amp; TEAM</a:t>
            </a:r>
          </a:p>
        </p:txBody>
      </p:sp>
      <p:pic>
        <p:nvPicPr>
          <p:cNvPr id="5" name="Picture 4" descr="sih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137160"/>
            <a:ext cx="914400" cy="1463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6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6291072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Team ID: T106  |  Team Name: RunTime Terror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291072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530352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1D4477"/>
                </a:solidFill>
                <a:latin typeface="Times New Roman"/>
              </a:defRPr>
            </a:pPr>
            <a:r>
              <a:t>🖥️ Live Functional Prototype Modules</a:t>
            </a:r>
          </a:p>
          <a:p>
            <a:pPr>
              <a:spcBef>
                <a:spcPts val="7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Geospatial GIS Anomaly Heatmap: </a:t>
            </a:r>
          </a:p>
          <a:p>
            <a:pPr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Interactive Leaflet India map rendering risk intensity across all 33 States/UTs with constituency-level audit drill-downs.</a:t>
            </a:r>
          </a:p>
          <a:p>
            <a:pPr>
              <a:spcBef>
                <a:spcPts val="7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Works Anomaly Explorer (105k): </a:t>
            </a:r>
          </a:p>
          <a:p>
            <a:pPr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Full-text searchable, paginated table with real-time ML vs CAG score comparisons and multi-year temporal filtering (2019-2024).</a:t>
            </a:r>
          </a:p>
          <a:p>
            <a:pPr>
              <a:spcBef>
                <a:spcPts val="7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Live AI Audit Simulator: </a:t>
            </a:r>
          </a:p>
          <a:p>
            <a:pPr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Interactive 'What-If' sandbox allowing evaluators to adjust project budget, delay, and village duplication to test ML risk recalculation live.</a:t>
            </a:r>
          </a:p>
          <a:p>
            <a:pPr>
              <a:spcBef>
                <a:spcPts val="7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Officer Case Management Queue: </a:t>
            </a:r>
          </a:p>
          <a:p>
            <a:pPr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Field-ready case tracking (UNDER REVIEW, SITE INSPECTION, FALSE POSITIVE) logging auditor observations.</a:t>
            </a:r>
          </a:p>
          <a:p>
            <a:pPr>
              <a:spcBef>
                <a:spcPts val="7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Official Printable CAG Dossiers: </a:t>
            </a:r>
          </a:p>
          <a:p>
            <a:pPr>
              <a:defRPr sz="1100">
                <a:solidFill>
                  <a:srgbClr val="0F172A"/>
                </a:solidFill>
                <a:latin typeface="Times New Roman"/>
              </a:defRPr>
            </a:pPr>
            <a:r>
              <a:t>One-click printable audit screening reports with formal case IDs, checklists, and sign/stamp fields.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39496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1D4477"/>
                </a:solidFill>
                <a:latin typeface="Times New Roman"/>
              </a:defRPr>
            </a:pPr>
            <a:r>
              <a:t>👥 Team Members &amp; Project Responsibilities</a:t>
            </a:r>
          </a:p>
          <a:p>
            <a:pPr>
              <a:spcBef>
                <a:spcPts val="6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Team Leader: Akshat Mittal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  Role: Lead AI/ML Architect &amp; Backend Engine (FastAPI)</a:t>
            </a:r>
          </a:p>
          <a:p>
            <a:pPr>
              <a:spcBef>
                <a:spcPts val="6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Member 2: Khushi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  Role: Data Pipeline, Cleaning &amp; MoSPI Scraper (Python)</a:t>
            </a:r>
          </a:p>
          <a:p>
            <a:pPr>
              <a:spcBef>
                <a:spcPts val="6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Member 3: Aryan Shahi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  Role: Frontend Architecture, React 18 &amp; Recharts Visualizer</a:t>
            </a:r>
          </a:p>
          <a:p>
            <a:pPr>
              <a:spcBef>
                <a:spcPts val="6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Member 4: Abhay Pratap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  Role: Geospatial GIS Mapping Specialist (Leaflet API)</a:t>
            </a:r>
          </a:p>
          <a:p>
            <a:pPr>
              <a:spcBef>
                <a:spcPts val="6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Member 5: Gaurav Shukla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  Role: CAG Statutory Rules &amp; GFR Domain Compliance</a:t>
            </a:r>
          </a:p>
          <a:p>
            <a:pPr>
              <a:spcBef>
                <a:spcPts val="600"/>
              </a:spcBef>
              <a:defRPr sz="1200" b="1">
                <a:solidFill>
                  <a:srgbClr val="0F62AC"/>
                </a:solidFill>
                <a:latin typeface="Times New Roman"/>
              </a:defRPr>
            </a:pPr>
            <a:r>
              <a:t>• Member 6: Shreya Srivastava</a:t>
            </a:r>
          </a:p>
          <a:p>
            <a:pPr>
              <a:defRPr sz="1050">
                <a:solidFill>
                  <a:srgbClr val="0F172A"/>
                </a:solidFill>
                <a:latin typeface="Times New Roman"/>
              </a:defRPr>
            </a:pPr>
            <a:r>
              <a:t>  Role: Quality Assurance, Audit Testing &amp; Evaluation Lead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