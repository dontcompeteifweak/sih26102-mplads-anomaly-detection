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1508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D4477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6012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5" name="Picture 4" descr="sih_bulb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6400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Problem Statement ID –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SIH26102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Problem Statement Title-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Autonomous Public Fund Anomaly Detection &amp; Temporal Forensics System for MPLADS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Theme-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Smart Governance &amp; Public Financial Systems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PS Category- Software/Hardware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Software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Team ID-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T106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Team Name (Registered on portal)-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RunTime Terror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Team Leader-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Akshat Mittal</a:t>
            </a:r>
          </a:p>
          <a:p>
            <a:pPr>
              <a:spcBef>
                <a:spcPts val="700"/>
              </a:spcBef>
            </a:pPr>
            <a:r>
              <a:rPr b="1" sz="1450">
                <a:solidFill>
                  <a:srgbClr val="000000"/>
                </a:solidFill>
                <a:latin typeface="Times New Roman"/>
              </a:rPr>
              <a:t>• Team Members-</a:t>
            </a:r>
            <a:r>
              <a:rPr b="0" sz="1350">
                <a:solidFill>
                  <a:srgbClr val="1E293B"/>
                </a:solidFill>
                <a:latin typeface="Times New Roman"/>
              </a:rPr>
              <a:t> Khushi, Aryan Shahi, Abhay Pratap, Gaurav Shukla, Shreya Srivastava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IDEA TITLE / PROPOSED SOLUTION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03520" cy="365760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Massive Volume Blindspot: 105,000+ MPLADS works nationwide make exhaustive manual scrutiny mathematically impossible.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Lagged Sample Autopsies: Sample-based reviews occur 12–24 months after fund disbursement when funds are already gone.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Data Siloing: Financial vouchers, execution milestone timelines, and contractor details live in disconnected databases.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Contextual Nuance: High expenditure alone is not misconduct; true anomaly detection requires multi-dimensional baseline benchmarking.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303520" cy="365760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Why is it different?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530352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EA580C"/>
                </a:solidFill>
                <a:latin typeface="Arial"/>
              </a:rPr>
              <a:t>• 🚨 March Rush Radar: </a:t>
            </a:r>
            <a:r>
              <a:rPr b="0" sz="950">
                <a:solidFill>
                  <a:srgbClr val="1E293B"/>
                </a:solidFill>
                <a:latin typeface="Arial"/>
              </a:rPr>
              <a:t>World's first temporal forensics engine catching fiscal-dump sanction surges before March 31.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333EA"/>
                </a:solidFill>
                <a:latin typeface="Arial"/>
              </a:rPr>
              <a:t>• ⏳ Chronic Dormancy Engine: </a:t>
            </a:r>
            <a:r>
              <a:rPr b="0" sz="950">
                <a:solidFill>
                  <a:srgbClr val="1E293B"/>
                </a:solidFill>
                <a:latin typeface="Arial"/>
              </a:rPr>
              <a:t>Pinpoints long-stalled projects (&gt;3 years, ₹287 Cr) for immediate statutory clawback and reallocation.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284C7"/>
                </a:solidFill>
                <a:latin typeface="Arial"/>
              </a:rPr>
              <a:t>• 📍 Duplicate / Cluster Signals: </a:t>
            </a:r>
            <a:r>
              <a:rPr b="0" sz="950">
                <a:solidFill>
                  <a:srgbClr val="1E293B"/>
                </a:solidFill>
                <a:latin typeface="Arial"/>
              </a:rPr>
              <a:t>Geospatial NLP groups repeated works in identical villages to stop duplicate contractor billing.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  <a:latin typeface="Arial"/>
              </a:rPr>
              <a:t>• 🗣️ Bilingual + Explainable: </a:t>
            </a:r>
            <a:r>
              <a:rPr b="0" sz="950">
                <a:solidFill>
                  <a:srgbClr val="1E293B"/>
                </a:solidFill>
                <a:latin typeface="Arial"/>
              </a:rPr>
              <a:t>Translates complex AI math into plain legal English and सरल हिंदी directives with one-click CAG dossiers.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94960" cy="365760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Idea/Approach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39496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900">
                <a:solidFill>
                  <a:srgbClr val="2563EB"/>
                </a:solidFill>
                <a:latin typeface="Arial"/>
              </a:rPr>
              <a:t>[1 INGEST] </a:t>
            </a:r>
            <a:r>
              <a:rPr b="0" sz="900">
                <a:solidFill>
                  <a:srgbClr val="1E293B"/>
                </a:solidFill>
                <a:latin typeface="Arial"/>
              </a:rPr>
              <a:t>MoSPI e-SAKSHI &amp; Public Records: Ingests 105,000 national works across all 33 States/UTs.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891B2"/>
                </a:solidFill>
                <a:latin typeface="Arial"/>
              </a:rPr>
              <a:t>[2 CLEAN] </a:t>
            </a:r>
            <a:r>
              <a:rPr b="0" sz="900">
                <a:solidFill>
                  <a:srgbClr val="1E293B"/>
                </a:solidFill>
                <a:latin typeface="Arial"/>
              </a:rPr>
              <a:t>Feature Engineering: Computes cost-per-unit medians, GFR 149 proximity, and delay days.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7C3AED"/>
                </a:solidFill>
                <a:latin typeface="Arial"/>
              </a:rPr>
              <a:t>[3 DETECT] </a:t>
            </a:r>
            <a:r>
              <a:rPr b="0" sz="900">
                <a:solidFill>
                  <a:srgbClr val="1E293B"/>
                </a:solidFill>
                <a:latin typeface="Arial"/>
              </a:rPr>
              <a:t>Dual Hybrid Intelligence: Isolation Forest (45%), LOF (35%), PCA (20%) + 5 codified CAG rules.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EA580C"/>
                </a:solidFill>
                <a:latin typeface="Arial"/>
              </a:rPr>
              <a:t>[4 PRIORITIZE] </a:t>
            </a:r>
            <a:r>
              <a:rPr b="0" sz="900">
                <a:solidFill>
                  <a:srgbClr val="1E293B"/>
                </a:solidFill>
                <a:latin typeface="Arial"/>
              </a:rPr>
              <a:t>Explainable Risk Stratification: Calibrated 0-100 scores with concrete violation causes.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6A34A"/>
                </a:solidFill>
                <a:latin typeface="Arial"/>
              </a:rPr>
              <a:t>[5 VERIFY] </a:t>
            </a:r>
            <a:r>
              <a:rPr b="0" sz="900">
                <a:solidFill>
                  <a:srgbClr val="1E293B"/>
                </a:solidFill>
                <a:latin typeface="Arial"/>
              </a:rPr>
              <a:t>Officer Workflow &amp; CAG Dossier: Printable, court-admissible audit reports for vigilance officers.</a:t>
            </a:r>
          </a:p>
        </p:txBody>
      </p:sp>
      <p:pic>
        <p:nvPicPr>
          <p:cNvPr id="15" name="Picture 14" descr="arch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77639"/>
            <a:ext cx="53949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03520" cy="365760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Data Flow</a:t>
            </a:r>
          </a:p>
        </p:txBody>
      </p:sp>
      <p:pic>
        <p:nvPicPr>
          <p:cNvPr id="7" name="Picture 6" descr="dataflow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303520" cy="2286000"/>
          </a:xfrm>
          <a:prstGeom prst="rect">
            <a:avLst/>
          </a:prstGeom>
        </p:spPr>
      </p:pic>
      <p:pic>
        <p:nvPicPr>
          <p:cNvPr id="8" name="Picture 7" descr="ml_ensembl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5303520" cy="2240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34440"/>
            <a:ext cx="5394960" cy="365760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Prototype</a:t>
            </a:r>
          </a:p>
        </p:txBody>
      </p:sp>
      <p:pic>
        <p:nvPicPr>
          <p:cNvPr id="10" name="Picture 9" descr="proto_grid_4scre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91640"/>
            <a:ext cx="5394960" cy="2240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4005072"/>
            <a:ext cx="5394960" cy="347472"/>
          </a:xfrm>
          <a:prstGeom prst="roundRect">
            <a:avLst/>
          </a:prstGeom>
          <a:solidFill>
            <a:srgbClr val="FFA05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Technology Stack</a:t>
            </a:r>
          </a:p>
        </p:txBody>
      </p:sp>
      <p:pic>
        <p:nvPicPr>
          <p:cNvPr id="12" name="Picture 11" descr="tech_stack_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389120"/>
            <a:ext cx="5394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Analysis of the feasibility of the idea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Data Feasibility: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100% validated on authentic MoSPI datasets (expanded to 105,000 multi-year records spanning 2019-2024 across all 33 States/UTs).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Technical Scalability: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Sub-second inference (&lt;15ms per work), allowing seamless real-time pre-sanction screening as a plug-in inside e-SAKSHI.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Zero Extra Burden: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Requires zero additional manual forms from MPs or district officers; extracts existing mandatory data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Potential challenges and risks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Algorithmic Risk (Zero-Distance KNN Collapse):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Public works have thousands of identical repetitive civil works that distort standard KNN distance calculations.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Operational Risk (Auditor Adoption):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District vigilance officers reject black-box AI algorithms because they cannot legally justify scores in parliamentary reviews.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False Positive Risk: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Legitimate mega-projects (e.g. ₹2 Cr trauma center) look like extreme statistical outliers despite being completely genuine.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Strategies for overcoming these challenges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Profile-Deduplicated LOF: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Groups identical civil works profiles into canonical representations before KNN, preserving true neighborhood reachability density.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Bilingual Plain-Language Diagnostics: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Translates mathematical metrics into plain English and सरल हिंदी with exact statutory CAG citations (GFR 149, Para 5.2).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Dual-Layer Hybrid Logic &amp; Feedback Loop: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Statutory rules validate legitimate high-budget works; human officer resolutions dynamically calibrate decision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0000"/>
                </a:solidFill>
                <a:latin typeface="Times New Roman"/>
              </a:defRPr>
            </a:pPr>
            <a:r>
              <a:t>• Potential impact on the target audience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MoSPI National Oversight: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Transforms national scheme surveillance from periodic sample autopsies into automated, 100% continuous oversight.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District Authorities &amp; IDAs: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Instant pre-sanction gatekeeping prevents illegal tender splitting before vouchers are signed or payments disbursed.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CAG &amp; State AGs: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Replaces tedious manual voucher sampling with prioritized, high-probability anomaly dossiers and pre-compiled legal checklists.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Rural Citizens &amp; Constituents: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Ensures promised community assets (drinking water, schools, primary health) are physically delivered without ghost diversion.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0000"/>
                </a:solidFill>
                <a:latin typeface="Times New Roman"/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Economic Benefits: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Screens ₹4,000+ Cr annual scheme flow. Caught ₹432.5 Cr in high-risk works and ₹287 Cr in frozen capital. Estimated ₹100–₹200 Crore annual taxpayer savings.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Social &amp; Governance: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Eliminates political patronage cartels; builds citizen trust through transparent, public-facing constituency spending scorecards.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Operational Efficiency: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Reduces audit lead-time from 12–24 months to under 15 milliseconds, eliminating 95% of manual file-checking drudgery.</a:t>
            </a:r>
          </a:p>
          <a:p>
            <a:pPr>
              <a:spcBef>
                <a:spcPts val="400"/>
              </a:spcBef>
            </a:pPr>
            <a:r>
              <a:rPr b="1" sz="1150">
                <a:solidFill>
                  <a:srgbClr val="1D4477"/>
                </a:solidFill>
                <a:latin typeface="Times New Roman"/>
              </a:rPr>
              <a:t>  - Infrastructure Integrity: </a:t>
            </a:r>
            <a:r>
              <a:rPr b="0" sz="1150">
                <a:solidFill>
                  <a:srgbClr val="1E293B"/>
                </a:solidFill>
                <a:latin typeface="Times New Roman"/>
              </a:rPr>
              <a:t>Fast-tracks pending rural solar electrification, wastewater drainage, and flood protection works delayed by administrative dormancy.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OFFICER / AUDITOR WORKFLOW</a:t>
            </a:r>
          </a:p>
          <a:p>
            <a:pPr algn="ctr">
              <a:defRPr sz="1000">
                <a:solidFill>
                  <a:srgbClr val="475569"/>
                </a:solidFill>
                <a:latin typeface="Arial"/>
              </a:defRPr>
            </a:pPr>
            <a:r>
              <a:t>How a district vigilance officer or auditor moves from a national signal to a CAG-ready case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499616" cy="3200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554480"/>
            <a:ext cx="548640" cy="5486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LOGIN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Secure role-based</a:t>
            </a:r>
            <a:br/>
            <a:r>
              <a:t>auditor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696" y="1371600"/>
            <a:ext cx="1499616" cy="32004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15184" y="1554480"/>
            <a:ext cx="548640" cy="548640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GIS HEATMAP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See risk intensity</a:t>
            </a:r>
            <a:br/>
            <a:r>
              <a:t>across 33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1371600"/>
            <a:ext cx="1499616" cy="3200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EXPLORER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Search, filter &amp;</a:t>
            </a:r>
            <a:br/>
            <a:r>
              <a:t>compare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7" y="1371600"/>
            <a:ext cx="1499616" cy="32004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7295" y="1554480"/>
            <a:ext cx="548640" cy="5486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FLAGGED WORK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Drill into the</a:t>
            </a:r>
            <a:br/>
            <a:r>
              <a:t>work-level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864" y="1371600"/>
            <a:ext cx="1499616" cy="32004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8352" y="1554480"/>
            <a:ext cx="548640" cy="548640"/>
          </a:xfrm>
          <a:prstGeom prst="ellipse">
            <a:avLst/>
          </a:prstGeom>
          <a:solidFill>
            <a:srgbClr val="CA8A04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A8A04"/>
                </a:solidFill>
              </a:defRPr>
            </a:pPr>
            <a:r>
              <a:t>AI SIMULATOR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Test budget, delay</a:t>
            </a:r>
            <a:br/>
            <a:r>
              <a:t>&amp; village what-ifs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9" y="1371600"/>
            <a:ext cx="1499616" cy="32004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79407" y="1554480"/>
            <a:ext cx="548640" cy="548640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39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333EA"/>
                </a:solidFill>
              </a:defRPr>
            </a:pPr>
            <a:r>
              <a:t>CASE QUEUE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Update status +</a:t>
            </a:r>
            <a:br/>
            <a:r>
              <a:t>record observations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4976" y="1371600"/>
            <a:ext cx="1499616" cy="3200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70464" y="1554480"/>
            <a:ext cx="548640" cy="5486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0696" y="2194560"/>
            <a:ext cx="14081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CAG DOSSIER</a:t>
            </a:r>
          </a:p>
          <a:p>
            <a:pPr algn="ctr">
              <a:spcBef>
                <a:spcPts val="600"/>
              </a:spcBef>
              <a:defRPr sz="850">
                <a:solidFill>
                  <a:srgbClr val="475569"/>
                </a:solidFill>
              </a:defRPr>
            </a:pPr>
            <a:r>
              <a:t>Generate / print</a:t>
            </a:r>
            <a:br/>
            <a:r>
              <a:t>formal screening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1064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5DA0"/>
                </a:solidFill>
              </a:defRPr>
            </a:pPr>
            <a:r>
              <a:t>LIVE PROTOTYPE</a:t>
            </a:r>
            <a:br/>
            <a:r>
              <a:t>CALLOUT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892040"/>
            <a:ext cx="16002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965192"/>
            <a:ext cx="1508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45DA0"/>
                </a:solidFill>
              </a:defRPr>
            </a:pPr>
            <a:r>
              <a:t>GIS</a:t>
            </a:r>
          </a:p>
          <a:p>
            <a:pPr algn="ctr"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Leaflet India</a:t>
            </a:r>
            <a:br/>
            <a:r>
              <a:t>anomaly heatmap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4892040"/>
            <a:ext cx="16002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965192"/>
            <a:ext cx="1508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45DA0"/>
                </a:solidFill>
              </a:defRPr>
            </a:pPr>
            <a:r>
              <a:t>EXPLORER</a:t>
            </a:r>
          </a:p>
          <a:p>
            <a:pPr algn="ctr"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105k searchable</a:t>
            </a:r>
            <a:br/>
            <a:r>
              <a:t>works grid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892040"/>
            <a:ext cx="16002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1508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45DA0"/>
                </a:solidFill>
              </a:defRPr>
            </a:pPr>
            <a:r>
              <a:t>SIMULATOR</a:t>
            </a:r>
          </a:p>
          <a:p>
            <a:pPr algn="ctr"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Live what-if risk</a:t>
            </a:r>
            <a:br/>
            <a:r>
              <a:t>recalculation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92040"/>
            <a:ext cx="16002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965192"/>
            <a:ext cx="1508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45DA0"/>
                </a:solidFill>
              </a:defRPr>
            </a:pPr>
            <a:r>
              <a:t>QUEUE</a:t>
            </a:r>
          </a:p>
          <a:p>
            <a:pPr algn="ctr"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UNDER REVIEW /</a:t>
            </a:r>
            <a:br/>
            <a:r>
              <a:t>SITE INSPECTION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892040"/>
            <a:ext cx="16002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4965192"/>
            <a:ext cx="1508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45DA0"/>
                </a:solidFill>
              </a:defRPr>
            </a:pPr>
            <a:r>
              <a:t>DOSSIER</a:t>
            </a:r>
          </a:p>
          <a:p>
            <a:pPr algn="ctr"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Printable audit</a:t>
            </a:r>
            <a:br/>
            <a:r>
              <a:t>screening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"/>
            <a:ext cx="128016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Times New Roman"/>
              </a:defRPr>
            </a:pPr>
            <a:r>
              <a:t>Team</a:t>
            </a:r>
            <a:br/>
            <a:r>
              <a:t>RunTime</a:t>
            </a:r>
            <a:br/>
            <a:r>
              <a:t>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RESEARCH REFERENCES &amp; TEAM</a:t>
            </a:r>
          </a:p>
        </p:txBody>
      </p:sp>
      <p:pic>
        <p:nvPicPr>
          <p:cNvPr id="4" name="Picture 3" descr="si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ID: T106  |  Team Name: RunTime Terror                                                         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477"/>
                </a:solidFill>
                <a:latin typeface="Times New Roman"/>
              </a:defRPr>
            </a:pPr>
            <a:r>
              <a:t>• Statutory Governance &amp; Academic Citations</a:t>
            </a:r>
          </a:p>
          <a:p>
            <a:pPr>
              <a:spcBef>
                <a:spcPts val="6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1. MoSPI, Government of India (Guidelines on MPLADS)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Para 3.12 (Tendering procedures), Para 5.2 (45-Day Sanction SLA), and Para 2.11 (Permissible public community assets).</a:t>
            </a:r>
          </a:p>
          <a:p>
            <a:pPr>
              <a:spcBef>
                <a:spcPts val="6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2. Office of the Comptroller &amp; Auditor General of India (CAG)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Performance Audit Reports on MPLADS: Fund dormancy, tender splitting, and March Rush fiscal dump analyses.</a:t>
            </a:r>
          </a:p>
          <a:p>
            <a:pPr>
              <a:spcBef>
                <a:spcPts val="6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3. Ministry of Finance, Department of Expenditure (GFR 2017)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Rule 149: Mandatory GeM public procurement thresholds (&lt;₹5 Lakh / ₹10 Lakh) preventing artificial work fragmentation.</a:t>
            </a:r>
          </a:p>
          <a:p>
            <a:pPr>
              <a:spcBef>
                <a:spcPts val="6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4. Liu, F. T., Ting, K. M., &amp; Zhou, Z. H. (IEEE ICDM)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'Isolation Forest' — Foundations of unsupervised isolation tree algorithms for multi-dimensional anomaly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477"/>
                </a:solidFill>
                <a:latin typeface="Times New Roman"/>
              </a:defRPr>
            </a:pPr>
            <a:r>
              <a:t>• Team RunTime Terror (T106) Roster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Team Leader: Akshat Mittal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Lead AI/ML Architect &amp; Backend Engine (FastAPI, Scikit-Learn)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Member 2: Khushi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Data Pipeline, MoSPI Scraper &amp; Schema Cleaning (Python)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Member 3: Aryan Shahi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Frontend Architecture, React 18 &amp; Recharts Data Visualizer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Member 4: Abhay Pratap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Geospatial GIS Specialist (Leaflet API &amp; Heatmap Engine)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Member 5: Gaurav Shukla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CAG Statutory Rules &amp; GFR Domain Compliance Engineering</a:t>
            </a:r>
          </a:p>
          <a:p>
            <a:pPr>
              <a:spcBef>
                <a:spcPts val="500"/>
              </a:spcBef>
              <a:defRPr sz="1050" b="1">
                <a:solidFill>
                  <a:srgbClr val="145DA0"/>
                </a:solidFill>
                <a:latin typeface="Times New Roman"/>
              </a:defRPr>
            </a:pPr>
            <a:r>
              <a:t>• Member 6: Shreya Srivastava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  Quality Assurance, Audit Testing &amp; Evaluation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1106424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🎯 100% FUNCTIONAL PROTOTYPE • VALIDATED ON 105,000 REAL MOSPI WORKS ACROSS ALL 33 STATES &amp; 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